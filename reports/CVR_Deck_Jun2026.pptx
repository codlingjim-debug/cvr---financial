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national expansion targets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EPC accounting alignment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up $300K on the new Consumers pole win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half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$300K CVR scope now booked to backlog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consum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($300K CVR scope, $3.45M EPC-paired)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d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centerpoi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midameric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Logos are the property of their respective owners; shown for internal reference only.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BEYOND THE CURRENT FOOTPRINT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“new logos” — the national expansion list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Electric Power · 11-state footprint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capital plan raised to ~$78B (May 2026) on signed data-center load; largest transmission owner in the U.S.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new leadership post-BHE takeover; strong Director/PM and procurement relationships (JimC + potential BD).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 · PA · NJ · WV · MD · ~6M customers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“Energize365” grid plan, 2026–30 — up ~30% vs. prior; transmission &amp; distribution modernization and reliability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key C-suite relationships to leverage — an open door to EPC.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pg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Gas &amp; Electric · N. &amp; Central California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2026–30 capital plan — wildfire undergrounding, grid hardening, and data-center-driven load growth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BD-led — a potential long-term EPC relationship to build.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souther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 · Alabama · Mississippi · electric + gas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plan raised to $81B (Feb 2026) — data-center &amp; manufacturing load; Georgia Power system growth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relationally weaker, but a major EPC distribution program at Georgia Power.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≈$268B in disclosed five-year capital plans across these four targets.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Lead's national pursuit list — beyond the current Michigan / Indiana / Iowa base.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latest company capital-plan disclosures (Q1 2025–Q1 2026 earnings / SEC filings); plan windows vary (2025–29 to 2026–30) — confirm current guidance. Relationship notes are CVR-internal account intel. Logos are the property of their respective owners.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WHERE WE PLAY AND WHERE WE'RE GOING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CVR's EPC footprint and the national target map</a:t>
            </a:r>
            <a:endParaRPr lang="en-US" sz="2700" dirty="0"/>
          </a:p>
        </p:txBody>
      </p:sp>
      <p:pic>
        <p:nvPicPr>
          <p:cNvPr id="4" name="Image 0" descr="/home/user/CVR---Financial/reports/assets/footpri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353312"/>
            <a:ext cx="9509760" cy="50345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states with a current CVR client; amber = expansion-target service territories. State shading illustrates each utility's footprint, not CVR's contracted scope.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 — up with the Consumers pole win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−420.4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now finance's fully-loaded basis — the forecast reconciles to the budget dollar-for-dollar.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reach; the honest FY26 landing is ~$1.42M revenue and a $480K loss.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turns positive in the Base case (+$123K); the Upside path reaches the 20% OILI aspiration.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levers — the $6M / 20% target is a capacity build (~27 FTEs).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REVISED 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scale: CVR earns engineering + material margin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~$150M of EPC a year and CVR captures the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scope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indent="0" marL="0">
              <a:buNone/>
            </a:pPr>
            <a:r>
              <a:rPr lang="en-US" sz="14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margin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while HWC keeps the equipment and the labor / construction margin.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$150M/YR PROGRAM REVENUE FLOWS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20848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captures the blue + green bands — </a:t>
            </a:r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 managed revenue (12.5% of the program).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33779" y="2487168"/>
            <a:ext cx="503423" cy="822960"/>
          </a:xfrm>
          <a:prstGeom prst="rect">
            <a:avLst/>
          </a:prstGeom>
          <a:solidFill>
            <a:srgbClr val="86B3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solidFill>
            <a:srgbClr val="D8D6C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· $45.7M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solidFill>
            <a:srgbClr val="AEB4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— equipment + labor + construction · $85.5M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38728"/>
            <a:ext cx="182880" cy="182880"/>
          </a:xfrm>
          <a:prstGeom prst="rect">
            <a:avLst/>
          </a:prstGeom>
          <a:solidFill>
            <a:srgbClr val="2A78D6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— $12.0M (8%)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3538728"/>
            <a:ext cx="182880" cy="182880"/>
          </a:xfrm>
          <a:prstGeom prst="rect">
            <a:avLst/>
          </a:prstGeom>
          <a:solidFill>
            <a:srgbClr val="86B332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material margin — $6.8M (4.6%)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182880" cy="182880"/>
          </a:xfrm>
          <a:prstGeom prst="rect">
            <a:avLst/>
          </a:prstGeom>
          <a:solidFill>
            <a:srgbClr val="D8D6CE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(pass-through) — $45.7M (30%)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849624"/>
            <a:ext cx="182880" cy="182880"/>
          </a:xfrm>
          <a:prstGeom prst="rect">
            <a:avLst/>
          </a:prstGeom>
          <a:solidFill>
            <a:srgbClr val="AEB4B9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equipment + labor + construction — $85.5M (57%)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managed revenue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6656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676656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+ material margin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90749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18765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gross profit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918765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$14.0M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2918765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GP + material margin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32858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60874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operating income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160874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$7.6M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5160874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OILI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274966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2982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the $6M / 20% goal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402982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6.3×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7402982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operating profit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17075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45091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645091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~$6.5M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9645091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carry — needs a facility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468112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554126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at $150M/yr — a future-state target, not the current forecast.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would carry ~$6.5M working capital and material procurement / price risk; confirm payment terms and a financing line with USC / HWC.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editable in CVR_Model_Phase2_Forecast.xlsx → 'EPC At-Scale Model' tab: 35% materials share · 13% material margin (net ~2 pts carry) · 8% engineering pull-through · 15% engineering operating margin.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today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hours land in CVR's overhead with no offsetting credit — immaterial now, but it compounds as EPC pursuit volume grows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Carve it out of the metrics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bid-support hours in a separate BD cost pool so CVR's utilization and realization aren't penalized for pursuit work — a reporting fix, not a cash fix.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dollars are small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7/11/26). Raise with the CFO as an EPC accounting-alignment item.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the BD resource — 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dedicated BD hire (~$300K/yr all-in) to convert AEP and FirstEnergy — both warm. A single mid-size EPC award pays it back in year 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near-term pipeline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biggest swing ($1,350K); land the Hoosier/Consumers EPC-paired work — each EPC win pulls engineering + material margin to CVR.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and realization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$145K H1 realization gap (confirm HWC rate treatment, chase billing lag) and fill non-billable time with the bid backlog — ~27% more capacity, no hires.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into the actuals-vs-forecast cadence; the monthly cash draw on USC is the early-warning gauge for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a BD resource to convert AEP + FirstEnergy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warm IOU targets and a consolidated EPC-with-HWC offering that's ready — the missing piece is dedicated pursuit capacity.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6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783080"/>
            <a:ext cx="21031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008376" y="1892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~$78B capital plan · 11-state footprint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68096" y="24688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warm: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leadership post-BHE takeover; strong Director/PM + procurement relationships (JimC + potential BD).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8096" y="2971800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&amp; distribution substation EPC — CVR engineering + material margin, HWC construction.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09360" y="1600200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1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8816" y="1783080"/>
            <a:ext cx="21031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69096" y="1892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“Energize365” grid plan (2026–30)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6528816" y="24688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warm: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C-suite relationships to leverage — an open door to EPC.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528816" y="2971800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Grid-modernization &amp; substation programs across OH · PA · NJ · WV · MD.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61188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EAF1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77240" y="3611880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one BD resource now —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~$300K/yr all-in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dedicated to AEP + FirstEnergy pursuit.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48640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6656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investment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76656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~$300K/yr</a:t>
            </a:r>
            <a:endParaRPr lang="en-US" sz="2500" dirty="0"/>
          </a:p>
        </p:txBody>
      </p:sp>
      <p:sp>
        <p:nvSpPr>
          <p:cNvPr id="20" name="Text 16"/>
          <p:cNvSpPr/>
          <p:nvPr/>
        </p:nvSpPr>
        <p:spPr>
          <a:xfrm>
            <a:off x="676656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senior BD resource, all-in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3351276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79292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EPC win covers it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3479292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~$0.43M</a:t>
            </a:r>
            <a:endParaRPr lang="en-US" sz="2500" dirty="0"/>
          </a:p>
        </p:txBody>
      </p:sp>
      <p:sp>
        <p:nvSpPr>
          <p:cNvPr id="24" name="Text 20"/>
          <p:cNvSpPr/>
          <p:nvPr/>
        </p:nvSpPr>
        <p:spPr>
          <a:xfrm>
            <a:off x="3479292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take on a single $3.45M job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153912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10% of the vision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281928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~$0.76M</a:t>
            </a:r>
            <a:endParaRPr lang="en-US" sz="2500" dirty="0"/>
          </a:p>
        </p:txBody>
      </p:sp>
      <p:sp>
        <p:nvSpPr>
          <p:cNvPr id="28" name="Text 24"/>
          <p:cNvSpPr/>
          <p:nvPr/>
        </p:nvSpPr>
        <p:spPr>
          <a:xfrm>
            <a:off x="6281928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OI at ~$15M/yr EPC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956548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084564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at-scale upside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9084564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$7.6M</a:t>
            </a:r>
            <a:endParaRPr lang="en-US" sz="2500" dirty="0"/>
          </a:p>
        </p:txBody>
      </p:sp>
      <p:sp>
        <p:nvSpPr>
          <p:cNvPr id="32" name="Text 28"/>
          <p:cNvSpPr/>
          <p:nvPr/>
        </p:nvSpPr>
        <p:spPr>
          <a:xfrm>
            <a:off x="9084564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OI at $150M/yr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548640" y="55961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BD hire now to open AEP + FirstEnergy pursuit immediately.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cost ~$300K/yr all-in (base + benefits + travel). Returns per the 'EPC At-Scale Model' tab; a single mid-size EPC award pays back the resource in year one.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2026-07-28T15:17:10Z</dcterms:created>
  <dcterms:modified xsi:type="dcterms:W3CDTF">2026-07-28T15:17:10Z</dcterms:modified>
</cp:coreProperties>
</file>