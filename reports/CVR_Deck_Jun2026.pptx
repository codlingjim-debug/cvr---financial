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 26</c:v>
                  </c:pt>
                  <c:pt idx="1">
                    <c:v>Feb 26</c:v>
                  </c:pt>
                  <c:pt idx="2">
                    <c:v>Mar 26</c:v>
                  </c:pt>
                  <c:pt idx="3">
                    <c:v>Apr 26</c:v>
                  </c:pt>
                  <c:pt idx="4">
                    <c:v>May 26</c:v>
                  </c:pt>
                  <c:pt idx="5">
                    <c:v>Jun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110.5</c:v>
                </c:pt>
                <c:pt idx="1">
                  <c:v>207.3</c:v>
                </c:pt>
                <c:pt idx="2">
                  <c:v>246.6</c:v>
                </c:pt>
                <c:pt idx="3">
                  <c:v>341.1</c:v>
                </c:pt>
                <c:pt idx="4">
                  <c:v>426.7</c:v>
                </c:pt>
                <c:pt idx="5">
                  <c:v>551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 (budget)</c:v>
                </c:pt>
              </c:strCache>
            </c:strRef>
          </c:tx>
          <c:spPr>
            <a:solidFill>
              <a:srgbClr val="898781"/>
            </a:solidFill>
            <a:ln w="38100" cap="flat">
              <a:solidFill>
                <a:srgbClr val="8987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98781"/>
              </a:solidFill>
              <a:ln w="9525" cap="flat">
                <a:solidFill>
                  <a:srgbClr val="8987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 26</c:v>
                  </c:pt>
                  <c:pt idx="1">
                    <c:v>Feb 26</c:v>
                  </c:pt>
                  <c:pt idx="2">
                    <c:v>Mar 26</c:v>
                  </c:pt>
                  <c:pt idx="3">
                    <c:v>Apr 26</c:v>
                  </c:pt>
                  <c:pt idx="4">
                    <c:v>May 26</c:v>
                  </c:pt>
                  <c:pt idx="5">
                    <c:v>Jun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169.1</c:v>
                </c:pt>
                <c:pt idx="1">
                  <c:v>338.2</c:v>
                </c:pt>
                <c:pt idx="2">
                  <c:v>507.3</c:v>
                </c:pt>
                <c:pt idx="3">
                  <c:v>676.4</c:v>
                </c:pt>
                <c:pt idx="4">
                  <c:v>845.5</c:v>
                </c:pt>
                <c:pt idx="5">
                  <c:v>1014.6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 year (pace)</c:v>
                </c:pt>
              </c:strCache>
            </c:strRef>
          </c:tx>
          <c:spPr>
            <a:solidFill>
              <a:srgbClr val="B8B6AF"/>
            </a:solidFill>
            <a:ln w="38100" cap="flat">
              <a:solidFill>
                <a:srgbClr val="B8B6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B6AF"/>
              </a:solidFill>
              <a:ln w="9525" cap="flat">
                <a:solidFill>
                  <a:srgbClr val="B8B6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 26</c:v>
                  </c:pt>
                  <c:pt idx="1">
                    <c:v>Feb 26</c:v>
                  </c:pt>
                  <c:pt idx="2">
                    <c:v>Mar 26</c:v>
                  </c:pt>
                  <c:pt idx="3">
                    <c:v>Apr 26</c:v>
                  </c:pt>
                  <c:pt idx="4">
                    <c:v>May 26</c:v>
                  </c:pt>
                  <c:pt idx="5">
                    <c:v>Jun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66.5</c:v>
                </c:pt>
                <c:pt idx="1">
                  <c:v>133</c:v>
                </c:pt>
                <c:pt idx="2">
                  <c:v>199.6</c:v>
                </c:pt>
                <c:pt idx="3">
                  <c:v>266.1</c:v>
                </c:pt>
                <c:pt idx="4">
                  <c:v>332.6</c:v>
                </c:pt>
                <c:pt idx="5">
                  <c:v>399.1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2514E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2514E"/>
                    </a:solidFill>
                    <a:latin typeface="Arial"/>
                  </a:rPr>
                  <a:t>$K cumulative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2514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 26</c:v>
                  </c:pt>
                  <c:pt idx="1">
                    <c:v>Feb 26</c:v>
                  </c:pt>
                  <c:pt idx="2">
                    <c:v>Mar 26</c:v>
                  </c:pt>
                  <c:pt idx="3">
                    <c:v>Apr 26</c:v>
                  </c:pt>
                  <c:pt idx="4">
                    <c:v>May 26</c:v>
                  </c:pt>
                  <c:pt idx="5">
                    <c:v>Jun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47.6</c:v>
                </c:pt>
                <c:pt idx="1">
                  <c:v>25</c:v>
                </c:pt>
                <c:pt idx="2">
                  <c:v>-39.9</c:v>
                </c:pt>
                <c:pt idx="3">
                  <c:v>35.6</c:v>
                </c:pt>
                <c:pt idx="4">
                  <c:v>-21.1</c:v>
                </c:pt>
                <c:pt idx="5">
                  <c:v>36.8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0B0B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 61.6%</c:v>
                </c:pt>
              </c:strCache>
            </c:strRef>
          </c:tx>
          <c:spPr>
            <a:solidFill>
              <a:srgbClr val="898781"/>
            </a:solidFill>
            <a:ln w="25400" cap="flat">
              <a:solidFill>
                <a:srgbClr val="898781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98781"/>
              </a:solidFill>
              <a:ln w="9525" cap="flat">
                <a:solidFill>
                  <a:srgbClr val="8987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 26</c:v>
                  </c:pt>
                  <c:pt idx="1">
                    <c:v>Feb 26</c:v>
                  </c:pt>
                  <c:pt idx="2">
                    <c:v>Mar 26</c:v>
                  </c:pt>
                  <c:pt idx="3">
                    <c:v>Apr 26</c:v>
                  </c:pt>
                  <c:pt idx="4">
                    <c:v>May 26</c:v>
                  </c:pt>
                  <c:pt idx="5">
                    <c:v>Jun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61.6</c:v>
                </c:pt>
                <c:pt idx="1">
                  <c:v>61.6</c:v>
                </c:pt>
                <c:pt idx="2">
                  <c:v>61.6</c:v>
                </c:pt>
                <c:pt idx="3">
                  <c:v>61.6</c:v>
                </c:pt>
                <c:pt idx="4">
                  <c:v>61.6</c:v>
                </c:pt>
                <c:pt idx="5">
                  <c:v>61.6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-60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2514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$/billable hour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&quot;$&quot;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labor cost</c:v>
                  </c:pt>
                  <c:pt idx="1">
                    <c:v>Realized rate</c:v>
                  </c:pt>
                  <c:pt idx="2">
                    <c:v>Blended card rate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95.13</c:v>
                </c:pt>
                <c:pt idx="1">
                  <c:v>122.32</c:v>
                </c:pt>
                <c:pt idx="2">
                  <c:v>154.47</c:v>
                </c:pt>
              </c:numCache>
            </c:numRef>
          </c:val>
        </c:ser>
        <c:dLbls>
          <c:numFmt formatCode="&quot;$&quot;0.00" sourceLinked="0"/>
          <c:txPr>
            <a:bodyPr/>
            <a:lstStyle/>
            <a:p>
              <a:pPr>
                <a:defRPr b="0" i="0" strike="noStrike" sz="12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0"/>
        </c:scaling>
        <c:delete val="0"/>
        <c:axPos val="b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&quot;$&quot;0" sourceLinked="0"/>
        <c:majorTickMark val="out"/>
        <c:minorTickMark val="none"/>
        <c:tickLblPos val="low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billable %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2514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Roy Pierce</c:v>
                  </c:pt>
                  <c:pt idx="1">
                    <c:v>Kevin Metts</c:v>
                  </c:pt>
                  <c:pt idx="2">
                    <c:v>Collin Allen</c:v>
                  </c:pt>
                  <c:pt idx="3">
                    <c:v>Taylor Nelson</c:v>
                  </c:pt>
                  <c:pt idx="4">
                    <c:v>Francis Wagner</c:v>
                  </c:pt>
                  <c:pt idx="5">
                    <c:v>Hayley Worthen</c:v>
                  </c:pt>
                  <c:pt idx="6">
                    <c:v>Bhkti Patel</c:v>
                  </c:pt>
                  <c:pt idx="7">
                    <c:v>Craig Peterson</c:v>
                  </c:pt>
                  <c:pt idx="8">
                    <c:v>Randy Pynenberg</c:v>
                  </c:pt>
                  <c:pt idx="9">
                    <c:v>Auston Hopson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32.7</c:v>
                </c:pt>
                <c:pt idx="1">
                  <c:v>38.4</c:v>
                </c:pt>
                <c:pt idx="2">
                  <c:v>57.6</c:v>
                </c:pt>
                <c:pt idx="3">
                  <c:v>61</c:v>
                </c:pt>
                <c:pt idx="4">
                  <c:v>62.5</c:v>
                </c:pt>
                <c:pt idx="5">
                  <c:v>66.9</c:v>
                </c:pt>
                <c:pt idx="6">
                  <c:v>74.4</c:v>
                </c:pt>
                <c:pt idx="7">
                  <c:v>79.6</c:v>
                </c:pt>
                <c:pt idx="8">
                  <c:v>89.7</c:v>
                </c:pt>
                <c:pt idx="9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E1E0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2514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Roy Pierce</c:v>
                  </c:pt>
                  <c:pt idx="1">
                    <c:v>Kevin Metts</c:v>
                  </c:pt>
                  <c:pt idx="2">
                    <c:v>Collin Allen</c:v>
                  </c:pt>
                  <c:pt idx="3">
                    <c:v>Taylor Nelson</c:v>
                  </c:pt>
                  <c:pt idx="4">
                    <c:v>Francis Wagner</c:v>
                  </c:pt>
                  <c:pt idx="5">
                    <c:v>Hayley Worthen</c:v>
                  </c:pt>
                  <c:pt idx="6">
                    <c:v>Bhkti Patel</c:v>
                  </c:pt>
                  <c:pt idx="7">
                    <c:v>Craig Peterson</c:v>
                  </c:pt>
                  <c:pt idx="8">
                    <c:v>Randy Pynenberg</c:v>
                  </c:pt>
                  <c:pt idx="9">
                    <c:v>Auston Hopson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42.4</c:v>
                </c:pt>
                <c:pt idx="1">
                  <c:v>75.4</c:v>
                </c:pt>
                <c:pt idx="2">
                  <c:v>80.1</c:v>
                </c:pt>
                <c:pt idx="3">
                  <c:v>80.1</c:v>
                </c:pt>
                <c:pt idx="4">
                  <c:v>70.7</c:v>
                </c:pt>
                <c:pt idx="5">
                  <c:v>61.3</c:v>
                </c:pt>
                <c:pt idx="6">
                  <c:v>70.7</c:v>
                </c:pt>
                <c:pt idx="7">
                  <c:v>75.4</c:v>
                </c:pt>
                <c:pt idx="8">
                  <c:v>95</c:v>
                </c:pt>
                <c:pt idx="9">
                  <c:v>100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52514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2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2514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$K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Kokosing Industrial</c:v>
                  </c:pt>
                  <c:pt idx="1">
                    <c:v>Great Lakes Energy</c:v>
                  </c:pt>
                  <c:pt idx="2">
                    <c:v>Steuben County REMC</c:v>
                  </c:pt>
                  <c:pt idx="3">
                    <c:v>Ambor Structures</c:v>
                  </c:pt>
                  <c:pt idx="4">
                    <c:v>Hydaker-Wheatlake (intercompany)</c:v>
                  </c:pt>
                  <c:pt idx="5">
                    <c:v>CenterPoint Energy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7.7</c:v>
                </c:pt>
                <c:pt idx="1">
                  <c:v>13.4</c:v>
                </c:pt>
                <c:pt idx="2">
                  <c:v>15.3</c:v>
                </c:pt>
                <c:pt idx="3">
                  <c:v>19.2</c:v>
                </c:pt>
                <c:pt idx="4">
                  <c:v>111.5</c:v>
                </c:pt>
                <c:pt idx="5">
                  <c:v>384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&quot;$&quot;0&quot;K&quot;" sourceLinked="0"/>
        <c:majorTickMark val="out"/>
        <c:minorTickMark val="none"/>
        <c:tickLblPos val="low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Booked backlog</c:v>
                </c:pt>
              </c:strCache>
            </c:strRef>
          </c:tx>
          <c:spPr>
            <a:solidFill>
              <a:srgbClr val="9EC5F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Jul 26</c:v>
                  </c:pt>
                  <c:pt idx="1">
                    <c:v>Aug 26</c:v>
                  </c:pt>
                  <c:pt idx="2">
                    <c:v>Sep 26</c:v>
                  </c:pt>
                  <c:pt idx="3">
                    <c:v>Oct 26</c:v>
                  </c:pt>
                  <c:pt idx="4">
                    <c:v>Nov 26</c:v>
                  </c:pt>
                  <c:pt idx="5">
                    <c:v>Dec 26</c:v>
                  </c:pt>
                  <c:pt idx="6">
                    <c:v>Jan 27</c:v>
                  </c:pt>
                  <c:pt idx="7">
                    <c:v>Feb 27</c:v>
                  </c:pt>
                  <c:pt idx="8">
                    <c:v>Mar 27</c:v>
                  </c:pt>
                  <c:pt idx="9">
                    <c:v>Apr 27</c:v>
                  </c:pt>
                  <c:pt idx="10">
                    <c:v>May 27</c:v>
                  </c:pt>
                  <c:pt idx="11">
                    <c:v>Jun 27</c:v>
                  </c:pt>
                  <c:pt idx="12">
                    <c:v>Jul 27</c:v>
                  </c:pt>
                  <c:pt idx="13">
                    <c:v>Aug 27</c:v>
                  </c:pt>
                  <c:pt idx="14">
                    <c:v>Sep 27</c:v>
                  </c:pt>
                  <c:pt idx="15">
                    <c:v>Oct 27</c:v>
                  </c:pt>
                  <c:pt idx="16">
                    <c:v>Nov 27</c:v>
                  </c:pt>
                  <c:pt idx="17">
                    <c:v>Dec 27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97.1</c:v>
                </c:pt>
                <c:pt idx="1">
                  <c:v>97.1</c:v>
                </c:pt>
                <c:pt idx="2">
                  <c:v>53.7</c:v>
                </c:pt>
                <c:pt idx="3">
                  <c:v>52.1</c:v>
                </c:pt>
                <c:pt idx="4">
                  <c:v>36.8</c:v>
                </c:pt>
                <c:pt idx="5">
                  <c:v>36.8</c:v>
                </c:pt>
                <c:pt idx="6">
                  <c:v>31.5</c:v>
                </c:pt>
                <c:pt idx="7">
                  <c:v>31.5</c:v>
                </c:pt>
                <c:pt idx="8">
                  <c:v>31.5</c:v>
                </c:pt>
                <c:pt idx="9">
                  <c:v>31.5</c:v>
                </c:pt>
                <c:pt idx="10">
                  <c:v>31.5</c:v>
                </c:pt>
                <c:pt idx="11">
                  <c:v>31.5</c:v>
                </c:pt>
                <c:pt idx="12">
                  <c:v>31.5</c:v>
                </c:pt>
                <c:pt idx="13">
                  <c:v>31.5</c:v>
                </c:pt>
                <c:pt idx="14">
                  <c:v>23.9</c:v>
                </c:pt>
                <c:pt idx="15">
                  <c:v>23.9</c:v>
                </c:pt>
                <c:pt idx="16">
                  <c:v>11.8</c:v>
                </c:pt>
                <c:pt idx="17">
                  <c:v>11.8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Weighted pipeline</c:v>
                </c:pt>
              </c:strCache>
            </c:strRef>
          </c:tx>
          <c:spPr>
            <a:solidFill>
              <a:srgbClr val="CDE2F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Jul 26</c:v>
                  </c:pt>
                  <c:pt idx="1">
                    <c:v>Aug 26</c:v>
                  </c:pt>
                  <c:pt idx="2">
                    <c:v>Sep 26</c:v>
                  </c:pt>
                  <c:pt idx="3">
                    <c:v>Oct 26</c:v>
                  </c:pt>
                  <c:pt idx="4">
                    <c:v>Nov 26</c:v>
                  </c:pt>
                  <c:pt idx="5">
                    <c:v>Dec 26</c:v>
                  </c:pt>
                  <c:pt idx="6">
                    <c:v>Jan 27</c:v>
                  </c:pt>
                  <c:pt idx="7">
                    <c:v>Feb 27</c:v>
                  </c:pt>
                  <c:pt idx="8">
                    <c:v>Mar 27</c:v>
                  </c:pt>
                  <c:pt idx="9">
                    <c:v>Apr 27</c:v>
                  </c:pt>
                  <c:pt idx="10">
                    <c:v>May 27</c:v>
                  </c:pt>
                  <c:pt idx="11">
                    <c:v>Jun 27</c:v>
                  </c:pt>
                  <c:pt idx="12">
                    <c:v>Jul 27</c:v>
                  </c:pt>
                  <c:pt idx="13">
                    <c:v>Aug 27</c:v>
                  </c:pt>
                  <c:pt idx="14">
                    <c:v>Sep 27</c:v>
                  </c:pt>
                  <c:pt idx="15">
                    <c:v>Oct 27</c:v>
                  </c:pt>
                  <c:pt idx="16">
                    <c:v>Nov 27</c:v>
                  </c:pt>
                  <c:pt idx="17">
                    <c:v>Dec 27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8.3</c:v>
                </c:pt>
                <c:pt idx="3">
                  <c:v>8.3</c:v>
                </c:pt>
                <c:pt idx="4">
                  <c:v>42.5</c:v>
                </c:pt>
                <c:pt idx="5">
                  <c:v>80</c:v>
                </c:pt>
                <c:pt idx="6">
                  <c:v>80</c:v>
                </c:pt>
                <c:pt idx="7">
                  <c:v>80</c:v>
                </c:pt>
                <c:pt idx="8">
                  <c:v>71.7</c:v>
                </c:pt>
                <c:pt idx="9">
                  <c:v>71.7</c:v>
                </c:pt>
                <c:pt idx="10">
                  <c:v>71.7</c:v>
                </c:pt>
                <c:pt idx="11">
                  <c:v>71.7</c:v>
                </c:pt>
                <c:pt idx="12">
                  <c:v>71.7</c:v>
                </c:pt>
                <c:pt idx="13">
                  <c:v>71.7</c:v>
                </c:pt>
                <c:pt idx="14">
                  <c:v>71.7</c:v>
                </c:pt>
                <c:pt idx="15">
                  <c:v>71.7</c:v>
                </c:pt>
                <c:pt idx="16">
                  <c:v>37.5</c:v>
                </c:pt>
                <c:pt idx="17">
                  <c:v>37.5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Forecast (Base)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Jul 26</c:v>
                  </c:pt>
                  <c:pt idx="1">
                    <c:v>Aug 26</c:v>
                  </c:pt>
                  <c:pt idx="2">
                    <c:v>Sep 26</c:v>
                  </c:pt>
                  <c:pt idx="3">
                    <c:v>Oct 26</c:v>
                  </c:pt>
                  <c:pt idx="4">
                    <c:v>Nov 26</c:v>
                  </c:pt>
                  <c:pt idx="5">
                    <c:v>Dec 26</c:v>
                  </c:pt>
                  <c:pt idx="6">
                    <c:v>Jan 27</c:v>
                  </c:pt>
                  <c:pt idx="7">
                    <c:v>Feb 27</c:v>
                  </c:pt>
                  <c:pt idx="8">
                    <c:v>Mar 27</c:v>
                  </c:pt>
                  <c:pt idx="9">
                    <c:v>Apr 27</c:v>
                  </c:pt>
                  <c:pt idx="10">
                    <c:v>May 27</c:v>
                  </c:pt>
                  <c:pt idx="11">
                    <c:v>Jun 27</c:v>
                  </c:pt>
                  <c:pt idx="12">
                    <c:v>Jul 27</c:v>
                  </c:pt>
                  <c:pt idx="13">
                    <c:v>Aug 27</c:v>
                  </c:pt>
                  <c:pt idx="14">
                    <c:v>Sep 27</c:v>
                  </c:pt>
                  <c:pt idx="15">
                    <c:v>Oct 27</c:v>
                  </c:pt>
                  <c:pt idx="16">
                    <c:v>Nov 27</c:v>
                  </c:pt>
                  <c:pt idx="17">
                    <c:v>Dec 27</c:v>
                  </c:pt>
                </c:lvl>
              </c:multiLvlStrCache>
            </c:multiLvl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128.5</c:v>
                </c:pt>
                <c:pt idx="1">
                  <c:v>132.3</c:v>
                </c:pt>
                <c:pt idx="2">
                  <c:v>136.1</c:v>
                </c:pt>
                <c:pt idx="3">
                  <c:v>154</c:v>
                </c:pt>
                <c:pt idx="4">
                  <c:v>158.3</c:v>
                </c:pt>
                <c:pt idx="5">
                  <c:v>162.7</c:v>
                </c:pt>
                <c:pt idx="6">
                  <c:v>182.4</c:v>
                </c:pt>
                <c:pt idx="7">
                  <c:v>187.3</c:v>
                </c:pt>
                <c:pt idx="8">
                  <c:v>192.3</c:v>
                </c:pt>
                <c:pt idx="9">
                  <c:v>197.3</c:v>
                </c:pt>
                <c:pt idx="10">
                  <c:v>202.4</c:v>
                </c:pt>
                <c:pt idx="11">
                  <c:v>219.3</c:v>
                </c:pt>
                <c:pt idx="12">
                  <c:v>219.3</c:v>
                </c:pt>
                <c:pt idx="13">
                  <c:v>219.3</c:v>
                </c:pt>
                <c:pt idx="14">
                  <c:v>219.3</c:v>
                </c:pt>
                <c:pt idx="15">
                  <c:v>219.3</c:v>
                </c:pt>
                <c:pt idx="16">
                  <c:v>219.3</c:v>
                </c:pt>
                <c:pt idx="17">
                  <c:v>219.3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250"/>
          <c:min val="0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&quot;$&quot;0&quot;K&quot;" sourceLinked="0"/>
        <c:majorTickMark val="out"/>
        <c:minorTickMark val="none"/>
        <c:tickLblPos val="nextTo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2514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Parent-note balance ($K)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Jun 26</c:v>
                  </c:pt>
                  <c:pt idx="1">
                    <c:v>Jul 26</c:v>
                  </c:pt>
                  <c:pt idx="2">
                    <c:v>Aug 26</c:v>
                  </c:pt>
                  <c:pt idx="3">
                    <c:v>Sep 26</c:v>
                  </c:pt>
                  <c:pt idx="4">
                    <c:v>Oct 26</c:v>
                  </c:pt>
                  <c:pt idx="5">
                    <c:v>Nov 26</c:v>
                  </c:pt>
                  <c:pt idx="6">
                    <c:v>Dec 26</c:v>
                  </c:pt>
                  <c:pt idx="7">
                    <c:v>Jan 27</c:v>
                  </c:pt>
                  <c:pt idx="8">
                    <c:v>Feb 27</c:v>
                  </c:pt>
                  <c:pt idx="9">
                    <c:v>Mar 27</c:v>
                  </c:pt>
                  <c:pt idx="10">
                    <c:v>Apr 27</c:v>
                  </c:pt>
                  <c:pt idx="11">
                    <c:v>May 27</c:v>
                  </c:pt>
                  <c:pt idx="12">
                    <c:v>Jun 27</c:v>
                  </c:pt>
                  <c:pt idx="13">
                    <c:v>Jul 27</c:v>
                  </c:pt>
                  <c:pt idx="14">
                    <c:v>Aug 27</c:v>
                  </c:pt>
                  <c:pt idx="15">
                    <c:v>Sep 27</c:v>
                  </c:pt>
                  <c:pt idx="16">
                    <c:v>Oct 27</c:v>
                  </c:pt>
                  <c:pt idx="17">
                    <c:v>Nov 27</c:v>
                  </c:pt>
                  <c:pt idx="18">
                    <c:v>Dec 27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3436.6</c:v>
                </c:pt>
                <c:pt idx="1">
                  <c:v>3508</c:v>
                </c:pt>
                <c:pt idx="2">
                  <c:v>3526.7</c:v>
                </c:pt>
                <c:pt idx="3">
                  <c:v>3541.8</c:v>
                </c:pt>
                <c:pt idx="4">
                  <c:v>3570.6</c:v>
                </c:pt>
                <c:pt idx="5">
                  <c:v>3574.6</c:v>
                </c:pt>
                <c:pt idx="6">
                  <c:v>3574.3</c:v>
                </c:pt>
                <c:pt idx="7">
                  <c:v>3587.9</c:v>
                </c:pt>
                <c:pt idx="8">
                  <c:v>3574.2</c:v>
                </c:pt>
                <c:pt idx="9">
                  <c:v>3555.7</c:v>
                </c:pt>
                <c:pt idx="10">
                  <c:v>3532.2</c:v>
                </c:pt>
                <c:pt idx="11">
                  <c:v>3503.6</c:v>
                </c:pt>
                <c:pt idx="12">
                  <c:v>3486.3</c:v>
                </c:pt>
                <c:pt idx="13">
                  <c:v>3443.5</c:v>
                </c:pt>
                <c:pt idx="14">
                  <c:v>3400.6</c:v>
                </c:pt>
                <c:pt idx="15">
                  <c:v>3357.6</c:v>
                </c:pt>
                <c:pt idx="16">
                  <c:v>3314.6</c:v>
                </c:pt>
                <c:pt idx="17">
                  <c:v>3271.5</c:v>
                </c:pt>
                <c:pt idx="18">
                  <c:v>3228.3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3700"/>
          <c:min val="3100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&quot;$&quot;#,##0&quot;K&quot;" sourceLinked="0"/>
        <c:majorTickMark val="out"/>
        <c:minorTickMark val="none"/>
        <c:tickLblPos val="nextTo"/>
        <c:spPr>
          <a:ln w="12700" cap="flat">
            <a:solidFill>
              <a:srgbClr val="E1E0D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turns monthly net income positive in November 2026 and delivers a 17.3% OILI return in 2027 — with the $6M revenue goal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−$352K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+$432K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7863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7863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69494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46320"/>
            <a:ext cx="69494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02920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in flight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decomposition block is built into the Phase 1 workbook, pending salary detail from finance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7863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7863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about 5 months of Base-forecast revenue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57%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$12,590.5K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$1,135.2K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to date (up from 50% in 2025)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7863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$1,724K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 — socialize the re-forecast rather than track to a 2.7× H2 run-rate.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income turns positive in November 2026 in the Base case.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OILI return is a performance goal — reachable. The $6M revenue is a capacity goal (~27 billable FTEs).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two levers that double revenue on the current roster.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7863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$3.59M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Jan-27, then a steady decline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paydown by Dec-27 in the Base case; Downside grows it to $3.82M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If the balance isn't flattening by Q1-27, the drivers aren't moving.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2026-07-17T21:05:56Z</dcterms:created>
  <dcterms:modified xsi:type="dcterms:W3CDTF">2026-07-17T21:05:56Z</dcterms:modified>
</cp:coreProperties>
</file>