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48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3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UTILITY SUPPLY &amp; CONSTRUCTION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5146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Review &amp; Forecast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401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through June 2026  ·  Forecast through December 2027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GL financial statements 6/30/26 · CVR &amp; EPC KPI report 7/11/26 · 2026 rate sheet · Phase 1 &amp; 2 model workbooks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14630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· revenue vs plan &amp; prior year · gross margin vs budget · the rate ladder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267712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24942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754880" y="2249424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 · utilization by person · sales by customer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054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30358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 &amp; work to win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754880" y="303580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on active jobs · known pipeline opportunities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38221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754880" y="382219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 with HWC Estimating · the consolidated EPC offering · the addressable market · national expansion targets · BD account ownership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26864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626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88720" y="46085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4754880" y="4608576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&amp; coverage · FY2026 landing and FY2027 scenarios · EPC accounting alignment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4132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413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88720" y="53949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4754880" y="53949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Priorities: realization, utilization, the Q4 pipeline, and the monthly rhythm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financial review &amp; forecast ·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— where CVR Engineering stands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revenue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7665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7665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$124K — best month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0112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8128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plan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548128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54.3%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2548128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$464K behind budget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1584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9600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prior year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19600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4419600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 YTD $399K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63056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91072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91072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291072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assumes 61.6%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034528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2544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62544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8162544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75% median target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90600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401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03401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500" dirty="0"/>
          </a:p>
        </p:txBody>
      </p:sp>
      <p:sp>
        <p:nvSpPr>
          <p:cNvPr id="27" name="Text 25"/>
          <p:cNvSpPr/>
          <p:nvPr/>
        </p:nvSpPr>
        <p:spPr>
          <a:xfrm>
            <a:off x="1003401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$122 realized vs $154 card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2743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growing but under plan.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ran below the flat $169K/month budget, yet YTD is 38% ahead of last year and June was the strongest month on record.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3383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 problem is throughput, not cost.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realizes ~$122/hr against a $154/hr rate card at 59% utilization. Closing those two gaps roughly doubles revenue on the current roster.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48640" y="4023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 is quantified.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forecast (reconciled to finance's fully-loaded cost) turns FY2027 net income positive at +$123K — with the $6M / 20% OILI target requiring a deliberate capacity build beyond it.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net result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−$320.5K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29768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FY2026 landing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29768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$1.42M rev · −$482K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786384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FY2027 (Base)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86384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$2.50M rev · +$123K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revenue — Actual vs Plan vs Prior Year</a:t>
            </a:r>
            <a:endParaRPr lang="en-US" sz="2700" dirty="0"/>
          </a:p>
        </p:txBody>
      </p:sp>
      <p:pic>
        <p:nvPicPr>
          <p:cNvPr id="4" name="Image 0" descr="/home/user/CVR---Financial/reports/assets/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863840" cy="30782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YTD — 54.3% of the $1,014.6K plan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 of prior-year pace ($399K)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$124.4K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revenue — best month YTD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Prior-year line is a constant-pace approximation to the actual June YTD of $399.1K — monthly 2025 detail pending from GL history.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by month vs the 61.6% budget assumption</a:t>
            </a:r>
            <a:endParaRPr lang="en-US" sz="2700" dirty="0"/>
          </a:p>
        </p:txBody>
      </p:sp>
      <p:pic>
        <p:nvPicPr>
          <p:cNvPr id="4" name="Image 0" descr="/home/user/CVR---Financial/reports/assets/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7863840" cy="2429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 — vs 61.6% budgeted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gross profit (Mar, May) on write-downs and thin billing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36.8%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margin, near-breakeven operating month (−$9.8K before interest)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income statements, Jan–Jun 2026. Budget gross margin implied by the 2026 budget: labor at 38.4% of revenue.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ladder — where the card rate goes</a:t>
            </a:r>
            <a:endParaRPr lang="en-US" sz="2700" dirty="0"/>
          </a:p>
        </p:txBody>
      </p:sp>
      <p:pic>
        <p:nvPicPr>
          <p:cNvPr id="4" name="Image 0" descr="/home/user/CVR---Financial/reports/assets/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4560"/>
            <a:ext cx="7315200" cy="10478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931920"/>
            <a:ext cx="731520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1148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multiplier:  </a:t>
            </a:r>
            <a:pPr indent="0" marL="0">
              <a:buNone/>
            </a:pPr>
            <a:r>
              <a:rPr lang="en-US" sz="22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1.29×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actual  vs  </a:t>
            </a:r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budgeted revenue per direct-labor dollar (healthy firms run 2.5–3.0×)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63840" y="20116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— $32/hr of card rate not reaching revenue (~$145K in H1)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86384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suspect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63840" y="3474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pricing on HWC work (20% of sales); billing lag and write-offs also in scope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0" y="4480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sourced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63840" y="49377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per-person cost confirmed from finance's 2026 budget — every role clears its rate (next slide)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2026: 4,747 billable hours (through 7/11) · blended card rate mix-weighted from actual billable hours by classification.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by role — the rate card holds</a:t>
            </a:r>
            <a:endParaRPr lang="en-US" sz="2700" dirty="0"/>
          </a:p>
        </p:txBody>
      </p:sp>
      <p:pic>
        <p:nvPicPr>
          <p:cNvPr id="4" name="Image 0" descr="/home/user/CVR---Financial/reports/assets/mar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589520" cy="35580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0" y="1417320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1.7×–2.2×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412480" y="17373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role clears its bill rate at a healthy labor multiplier on finance's loaded-cost basis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8412480" y="2624328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pricing problem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0" y="294436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card is adequate — no classification bills below its cost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412480" y="3831336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where's the gap?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412480" y="4151376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blends to 2.6× revenue-per-labor-dollar; H1 actual ran 1.29× — that gap is realization and utilization, not the card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412480" y="5038344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the fix there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412480" y="535838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 and lift utilization — the two levers that move margin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cost = base + 25% benefits + bonus per hour. Source: 2026 CVR Budget V5 (finance), tab Labor Rates-DP.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100584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YTD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Billable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Engineering (Principal Eng.)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Hayley Worthen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Engineer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Randy Pynenberg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Little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Erin Bryden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Bhkti Patel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Francis Wagner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Taylor Nelson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Craig Peterson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Kevin Metts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Patrick Nicholson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Designer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Collin Allen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Auston Hopson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38160" y="14173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138160" y="19202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on the engineering roster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138160" y="2606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13816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billable staff with recorded hours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38160" y="3794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8138160" y="4297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 in the Base hiring plan (Oct-26, Jan-27, Jun-27 → 13 FTE)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0" y="4983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~27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138160" y="5486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FTEs needed at target utilization to support the $6M revenue goal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No hours on the KPI utilization page — time booking to be confirmed.  † Classification assumed (not on org chart) — pending confirmation.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utilization vs target, by person</a:t>
            </a:r>
            <a:endParaRPr lang="en-US" sz="2700" dirty="0"/>
          </a:p>
        </p:txBody>
      </p:sp>
      <p:pic>
        <p:nvPicPr>
          <p:cNvPr id="4" name="Image 0" descr="/home/user/CVR---Financial/reports/assets/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186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billable utilization vs 75% median target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people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15 points under their individual target (Kevin, Collin, Taylor)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pts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targets adds ~27% billable capacity with zero hires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through 7/11/26. Randy Pynenberg (68 hrs) and Auston Hopson (18 hrs) have small YTD bases. Bids/BD time is tracked separately (405 hrs).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customer — YTD June 2026</a:t>
            </a:r>
            <a:endParaRPr lang="en-US" sz="2700" dirty="0"/>
          </a:p>
        </p:txBody>
      </p:sp>
      <p:pic>
        <p:nvPicPr>
          <p:cNvPr id="4" name="Image 0" descr="/home/user/CVR---Financial/reports/assets/c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7440"/>
            <a:ext cx="7863840" cy="1942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revenue is CenterPoint — matching its ~70% share of billable hours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20.2%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work for Hydaker-Wheatlake (rate treatment under review)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external customers combined — diversification is the growth agenda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sales-by-customer schedule, 6/30/26. Total $551.0K.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— remaining value on active jobs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1143000"/>
                <a:gridCol w="1143000"/>
                <a:gridCol w="11430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/ project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New Baltimore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$1,428.8K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$1,216.3K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$212.5K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2026 Pole Replacements (WON)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Leonard Rd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$193.3K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Northwest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$203.0K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$131.2K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005-0004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HVD Line Sensors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Catalina Ph 3 (support tail)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$838.5K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$81.7K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016-0001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Cloverland — Manistique Pump Stn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$111.5K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Angel Mounds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backlog 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$996.8K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96112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$997K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961120" y="2011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work remaining — up $300K on the new Consumers pole win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96112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jobs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961120" y="33832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over half of it (New Baltimore, Leonard Rd), both finishing late 2027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961120" y="4297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close-outs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961120" y="4754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Rockport, Manistique wrap by Oct-26 — replacement work needed now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project scorecard, week ending 7/11/26. Remaining = PO value − billed to date; excludes cost-overrun exposure tracked on the scorecard.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TO WIN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pipeline opportunities</a:t>
            </a:r>
            <a:endParaRPr lang="en-US" sz="2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778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051560"/>
                <a:gridCol w="1143000"/>
                <a:gridCol w="868680"/>
                <a:gridCol w="1005840"/>
                <a:gridCol w="777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 EPC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Pole Replacements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$3,451.1K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backlog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Use Audit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Lansing Board of Water &amp; Light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Rosehill–Rockport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$5,590.9K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Jacksonburg–Gateway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$3,548.5K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Frontier Make Ready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Steuben County REMC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Renaissance 345kV Substation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total (ex-won)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$9,139.4K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60120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601200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pole replacements — $300K CVR scope now booked to backlog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96012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9601200" y="33832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share of paired EPC contract value — every EPC win pulls CVR scope with it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60120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$1.6M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9601200" y="4754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origination gap beyond this list to fully cover the 18-month Base forecast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current-bids page, 7/11/26. Win probabilities are planning placeholders (2026 win rate or 50%) — Estimating to own final numbers and award dates.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ONE DELIVERY ORGANIZATION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engine: Engineering + Estimating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two linked groups, one funnel 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669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~10-person estimating organization (Director of Estimating plus senior estimators) sits beside the 13-person engineering roster — same leadership, same customers.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already invests 405 hours YTD in bids and proposals — 20% of its non-billable time — but informally, after the estimate is framed.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EPC-paired pursuits (Hoosier, Consumers) are already priced with engineering scope inside them — the consolidated model exists in embryo.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7512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6948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pursuit funnel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269480" y="17556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bid list owned jointly; engineering hours planned into every estimate from day one, not volunteered afterward.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675120" y="253288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532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514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Design-to-estimate loop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269480" y="28072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design packages and unit-hour norms feed estimating's cost baselines, so bids carry engineering reality.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75120" y="35844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9480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Estimate-to-execution handoff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269480" y="385876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winning estimate becomes the project budget the weekly scorecard tracks — one number from bid to closeout.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8006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983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variance is the biggest margin leak on the scorecard (individual jobs overran to −92% and −206%). Early engineering input into estimates is the structural fix — and it converts estimating support from overhead into billable pursuit capacity.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Refocus: pursue EPC with new clients as one offering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47872" cy="1463040"/>
          </a:xfrm>
          <a:prstGeom prst="chevron">
            <a:avLst/>
          </a:prstGeom>
          <a:solidFill>
            <a:srgbClr val="CDE2FB"/>
          </a:solidFill>
          <a:ln w="12700">
            <a:solidFill>
              <a:srgbClr val="CDE2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72768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1801368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function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26791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supports HWC construction and bills hours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79392" y="1417320"/>
            <a:ext cx="3547872" cy="1463040"/>
          </a:xfrm>
          <a:prstGeom prst="chevron">
            <a:avLst/>
          </a:prstGeom>
          <a:solidFill>
            <a:srgbClr val="9EC5F4"/>
          </a:solidFill>
          <a:ln w="12700">
            <a:solidFill>
              <a:srgbClr val="9EC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46320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engineer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design control; engineering priced into every EPC bid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10144" y="1417320"/>
            <a:ext cx="3547872" cy="1463040"/>
          </a:xfrm>
          <a:prstGeom prst="chevron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7072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577072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of Record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577072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EPC — supply, engineering, construction sold and delivered together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46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one accountable offer — material supply, engineering, and construction priced and sold together, with single-point delivery risk the utility doesn't have to manage.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it at new clients — the co-op and municipal pattern already responding (Hoosier, Steuben, Lansing BWL) — to grow revenue while cutting the 70% CenterPoint concentration.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EPC win feeds both P&amp;Ls: construction margin to HWC, and 4–5% of contract value as engineering scope to CVR — the revenue that funds the capacity build toward $6M.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0" y="3246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$9.1M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858000" y="368503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EPC-paired bids still in market with Hoosier (Consumers pole program now won)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858000" y="464515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pull-through on every EPC contract won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858000" y="5166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858000" y="56052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— the consolidated offer is landing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 per the CVR strategy roadmap: support function → prime engineer → Engineer of Record / turnkey program support.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addressable EPC market in our current client base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5" name="Image 0" descr="/home/user/CVR---Financial/reports/assets/logos/consum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" y="1536192"/>
            <a:ext cx="21031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008376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&gt;$17B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capital plan; $8.5B of distribution reliability &amp; resilience through 2029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HVD line-sensor program live; 2026 pole replacements WON ($300K CVR scope, $3.45M EPC-paired)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0" name="Image 1" descr="/home/user/CVR---Financial/reports/assets/logos/dt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10528" y="1536192"/>
            <a:ext cx="21031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750808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$36.5B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plan 2026–30 — up 20% on data-center load and grid reliability spend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New Baltimore &amp; Catalina conversions ($2.3M PO); Renaissance 345kV bid on hold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5" name="Image 2" descr="/home/user/CVR---Financial/reports/assets/logos/centerpoin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8096" y="3749040"/>
            <a:ext cx="21031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008376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Electric + Houston Electric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10-year plan 2026–35; Houston Electric $46.3B; Indiana transmission &amp; data-center upside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7 active Indiana substation jobs; Houston presence = the expansion runway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20" name="Image 3" descr="/home/user/CVR---Financial/reports/assets/logos/midamerica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10528" y="3749040"/>
            <a:ext cx="21031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750808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Iowa — Berkshire Hathaway Energy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$3.9B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PRIME program, on top of ~$14B invested in Iowa energy infrastructure since 2004</a:t>
            </a:r>
            <a:endParaRPr lang="en-US" sz="2400" dirty="0"/>
          </a:p>
        </p:txBody>
      </p:sp>
      <p:sp>
        <p:nvSpPr>
          <p:cNvPr id="23" name="Text 17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4 active EPC substation projects with HWC ($21.7M PO value)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≈$120B in disclosed capital plans across this client base.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0.005% captured as engineering = the $6M Year-2 goal.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company capital-plan announcements and filings (Utility Dive, SEC 8-K, company releases), July 2026. Logos are the property of their respective owners; shown for internal reference only.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BEYOND THE CURRENT FOOTPRINT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“new logos” — the national expansion list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5361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80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AEP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68096" y="183794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Electric Power · 11-state footprint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Five-year capital plan raised to ~$78B (May 2026) on signed data-center load; largest transmission owner in the U.S.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— to be added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10528" y="15361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3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FirstEnergy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10528" y="183794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 · PA · NJ · WV · MD · ~6M customers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“Energize365” grid plan, 2026–30 — up ~30% vs. prior; transmission &amp; distribution modernization and reliability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— to be added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8096" y="37490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PG&amp;E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68096" y="405079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Pacific Gas &amp; Electric · N. &amp; Central California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$73B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$73B 2026–30 capital plan — wildfire undergrounding, grid hardening, and data-center-driven load growth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— to be added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10528" y="37490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5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Southern Company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510528" y="405079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Georgia · Alabama · Mississippi · electric + gas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$81B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Five-year plan raised to $81B (Feb 2026) — data-center &amp; manufacturing load; Georgia Power system growth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— to be added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≈$268B in disclosed five-year capital plans across these four targets.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Lead's national pursuit list — beyond the current Michigan / Indiana / Iowa base.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latest company capital-plan disclosures (Q1 2025–Q1 2026 earnings / SEC filings); plan windows vary (2025–29 to 2026–30) — confirm current guidance. Relationship notes to follow. Drop official logos into reports/assets/logos/ (aep.png, firstenergy.png, pge.png, southern.png) to swap the wordmarks.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BUSINESS DEVELOPMENT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owner on every EPC account</a:t>
            </a:r>
            <a:endParaRPr lang="en-US" sz="27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383280"/>
                <a:gridCol w="22402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EPC pursuit focus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owner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Outside current footprint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utilities &amp; regions beyond MI/IN/IA — Gulf Coast &amp; Texas, MISO/PJM neighbors, data-center-driven grid build-out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BD Lead (new hire) — owns the map, coordinates all account managers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Indiana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Substation program continuity; move from job-by-job to a program-level agreement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 (VP Engineering — current 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Houston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into the $46.3B Houston Electric resiliency build — new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SVP Engineering (Houston-based)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program follow-on; revive the Renaissance 345kV pursuit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 — VP Engineering or new 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pole/sensor programs into EPC-paired awards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Frank Miller (Director of Estimating)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MidAmerican (MEC)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 the 4-project EPC substation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Ethan McDaniel (EPC PM — current)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Co-op &amp; municipal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Hoosier, Steuben, Lansing BWL, Great Lakes — the consolidated-offer beachhead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Prospects in motion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NIPSCO, AES Ohio, AES Indiana, Duke — BD hours already flowing, no owner yet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092440" y="13716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today — $0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092440" y="170992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 accounts get named owners from existing leadership. The 590 hours of BD &amp; proposal time already spent YTD becomes a managed funnel instead of volunteer work.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092440" y="30632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two seats — BD Lead + AM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92440" y="340156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Lead hunts outside the footprint and owns the consolidated-offer story to new logos; the Account Manager works the co-op/municipal cluster and prospects. One EPC win repays both seats — 4–5% engineering pull-through to CVR plus construction margin to HWC.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092440" y="4754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cadence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92440" y="509320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account reviews against the pipeline tab, chaired by the BD Lead. Owners set win probabilities and award dates; BD hours tracked per account.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Proposed from current relationships on the KPI scorecards — to be confirmed with the team. YTD BD hours by account (KPI report): Great Lakes 56 · CenterPoint 35.5 · Consumers 26.5 · DTE 19.5 · NIPSCO 10 · AES 10 — plus 408 proposal hours.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PHASE 2 MODEL, BASE SCENARIO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revenue &amp; work coverage, Jul 2026 – Dec 2027</a:t>
            </a:r>
            <a:endParaRPr lang="en-US" sz="2700" dirty="0"/>
          </a:p>
        </p:txBody>
      </p:sp>
      <p:pic>
        <p:nvPicPr>
          <p:cNvPr id="4" name="Image 0" descr="/home/user/CVR---Financial/reports/assets/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3478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18-month forecast covered by backlog + weighted pipeline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by booked backlog alone — up with the Consumers pole win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$1,609K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to originate — the BD target; thinnest coverage is H2-2027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= FTE × hours × utilization × card rate × realization (Base path: 59→70% utilization, 79→90% realization, 10→13 FTE).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landing, FY2027 outlook, and scenarios</a:t>
            </a:r>
            <a:endParaRPr lang="en-US" sz="27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60120"/>
                <a:gridCol w="1051560"/>
                <a:gridCol w="100584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FY2026 ($K)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actual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 landing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profit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−129.9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−420.4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−320.5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−161.2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−481.7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9202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FY2027 (Base)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6,000 (42%)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return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777240"/>
                <a:gridCol w="868680"/>
                <a:gridCol w="82296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FY26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rev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 (75% · 95% · 16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(70% · 90% · 13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 (no change)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−568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6400800" y="3246120"/>
            <a:ext cx="5577840" cy="27432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6583680" y="34290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say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6583680" y="37947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is now finance's fully-loaded basis — the forecast reconciles to the budget dollar-for-dollar.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budget is out of reach; the honest FY26 landing is ~$1.42M revenue and a $480K loss.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turns positive in the Base case (+$123K); the Upside path reaches the 20% OILI aspiration.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and realization are the levers — the $6M / 20% target is a capacity build (~27 FTEs).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forecast model — scenarios switchable in CVR_Model_Phase2_Forecast.xlsx (Drivers tab).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ACCOUNTING ALIGNMENT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 bid engineering: an item to clean up, not a crisis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405 hrs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112264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bid engineering YTD — ≈$62.6K at card rates ($38.5K at cost), unbilled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2807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design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3136392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before a fixed-price EPC bid can even be submitted — $200–300K of pre-award exposure on the $9.1M bid slate still in market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383133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Absorbed today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416052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hours land in CVR's overhead with no offsetting credit — immaterial now, but it compounds as EPC pursuit volume grows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485546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misalignment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518464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are non-billable, so every EPC pursuit CVR supports drags the metrics CVR is judged on — utilization, realization, OILI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1371600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EAF1FA"/>
          </a:solidFill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60720" y="1536192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0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91072" y="14996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bid-support billing</a:t>
            </a:r>
            <a:pPr indent="0" marL="0">
              <a:buNone/>
            </a:pPr>
            <a:r>
              <a:rPr lang="en-US" sz="95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RECOMMENDED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91072" y="18288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HWC pays CVR for pre-award engineering on EPC pursuits (cost or card). Hours become billable; cost lands where the benefit lands. Standard EPC practice.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577840" y="2852928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301752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298094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/ loss allocation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91072" y="331012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engineering capitalizes to the pursuit — charged to the job on a win, absorbed by HWC as a BD expense on a loss.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577840" y="4334256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60720" y="4498848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7607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91072" y="44622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Carve it out of the metrics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91072" y="4791456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bid-support hours in a separate BD cost pool so CVR's utilization and realization aren't penalized for pursuit work — a reporting fix, not a cash fix.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897880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952744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is alignment, not subsidy.  </a:t>
            </a:r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dollars are small today — but as EPC volume scales, the accounting should reward the pursuit behavior the strategy demands.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per the KPI report (through 7/11/26). Raise with the CFO as an EPC accounting-alignment item.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60020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929384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the $145K H1 gap: confirm intercompany rate treatment for HWC work, chase billing lag, stop write-offs. Worth up to $32 more per billable hour.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807208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utilization toward targets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136392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plans for the three largest gaps; fill non-billable time with the bid backlog. Reaching targets adds ~27% capacity with zero hires.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059936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4014216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the Q4 pipeline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Lansing BWL audit is the single biggest swing ($1,350K). Land the Hoosier/Consumers EPC-paired work — each EPC win pulls 4–5% engineering scope with it.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66944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5221224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monthly rhythm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4440" y="5550408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close goes into the actuals-vs-forecast cadence; the monthly cash draw on USC is the early-warning gauge for reporting.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prepared July 2026 · model workbooks and data in the CVR---Financial repository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2026-07-22T11:27:23Z</dcterms:created>
  <dcterms:modified xsi:type="dcterms:W3CDTF">2026-07-22T11:27:23Z</dcterms:modified>
</cp:coreProperties>
</file>