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· revenue vs plan &amp; prior year · gross margin vs budget · the rate ladder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249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754880" y="224942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 · utilization by person · sales by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 &amp; work to win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54880" y="3035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on active jobs · known pipeline opportunities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38221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754880" y="382219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 with HWC Estimating · the consolidated EPC offering · the addressable market · national expansion targets · BD account ownership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626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4754880" y="460857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&amp; coverage · FY2026 landing and FY2027 scenarios · EPC accounting alignment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132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88720" y="5394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754880" y="5394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Priorities: realization, utilization, the Q4 pipeline, and the monthly rhythm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financial review &amp; forecast ·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(reconciled to finance's fully-loaded cost) turns FY2027 net income positive at +$123K — with the $6M / 20% OILI target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−$482K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+$123K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sourced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per-person cost confirmed from finance's 2026 budget — every role clears its rate (next slide)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by role — the rate card holds</a:t>
            </a:r>
            <a:endParaRPr lang="en-US" sz="2700" dirty="0"/>
          </a:p>
        </p:txBody>
      </p:sp>
      <p:pic>
        <p:nvPicPr>
          <p:cNvPr id="4" name="Image 0" descr="/home/user/CVR---Financial/reports/assets/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35580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1732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1.7×–2.2×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412480" y="17373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clears its bill rate at a healthy labor multiplier on finance's loaded-cost basis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412480" y="262432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pricing problem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0" y="294436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card is adequate — no classification bills below its cost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0" y="38313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where's the gap?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12480" y="4151376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blends to 2.6× revenue-per-labor-dollar; H1 actual ran 1.29× — that gap is realization and utilization, not the card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412480" y="5038344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the fix there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0" y="535838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 and lift utilization — the two levers that move margin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cost = base + 25% benefits + bonus per hour. Source: 2026 CVR Budget V5 (finance), tab Labor Rates-DP.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2026 Pole Replacements (WON)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up $300K on the new Consumers pole win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over half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backlog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total (ex-won)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$9,139.4K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pole replacements — $300K CVR scope now booked to backlog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$9.1M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still in market with Hoosier (Consumers pole program now won)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consum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program live; 2026 pole replacements WON ($300K CVR scope, $3.45M EPC-paired)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d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on hold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centerpoin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midamerica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Logos are the property of their respective owners; shown for internal reference only.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BEYOND THE CURRENT FOOTPRINT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“new logos” — the national expansion list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ae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Electric Power · 11-state footprint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capital plan raised to ~$78B (May 2026) on signed data-center load; largest transmission owner in the U.S.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new leadership post-BHE takeover; strong Director/PM and procurement relationships (JimC + potential BD).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firstener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 · PA · NJ · WV · MD · ~6M customers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“Energize365” grid plan, 2026–30 — up ~30% vs. prior; transmission &amp; distribution modernization and reliability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key C-suite relationships to leverage — an open door to EPC.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pg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Pacific Gas &amp; Electric · N. &amp; Central California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2026–30 capital plan — wildfire undergrounding, grid hardening, and data-center-driven load growth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BD-led — a potential long-term EPC relationship to build.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souther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Georgia · Alabama · Mississippi · electric + gas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plan raised to $81B (Feb 2026) — data-center &amp; manufacturing load; Georgia Power system growth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relationally weaker, but a major EPC distribution program at Georgia Power.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≈$268B in disclosed five-year capital plans across these four targets.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Lead's national pursuit list — beyond the current Michigan / Indiana / Iowa base.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latest company capital-plan disclosures (Q1 2025–Q1 2026 earnings / SEC filings); plan windows vary (2025–29 to 2026–30) — confirm current guidance. Relationship notes are CVR-internal account intel. Logos are the property of their respective owners.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current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utilities &amp; regions beyond MI/IN/IA — Gulf Coast &amp; Texas, MISO/PJM neighbors, data-center-driven grid build-out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Lead (new hire) — owns the map, coordinates all account managers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revive the Renaissance 345kV pursuit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371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092440" y="170992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0924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seats — BD Lead + 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340156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 hunts outside the footprint and owns the consolidated-offer story to new logos; the Account Manager works the co-op/municipal cluster and prospects. One EPC win repays both seats — 4–5% engineering pull-through to CVR plus construction margin to HWC.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9244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92440" y="509320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tab, chaired by the BD Lead. Owners set win probabilities and award dates; BD hours tracked per account.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pic>
        <p:nvPicPr>
          <p:cNvPr id="4" name="Image 0" descr="/home/user/CVR---Financial/reports/assets/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347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 — up with the Consumers pole win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$1,609K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−420.4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−161.2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now finance's fully-loaded basis — the forecast reconciles to the budget dollar-for-dollar.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reach; the honest FY26 landing is ~$1.42M revenue and a $480K loss.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turns positive in the Base case (+$123K); the Upside path reaches the 20% OILI aspiration.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levers — the $6M / 20% target is a capacity build (~27 FTEs).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ACCOUNTING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 bid engineering: an item to clean up, not a crisis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 hrs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11226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 engineering YTD — ≈$62.6K at card rates ($38.5K at cost), unbilled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807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design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313639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before a fixed-price EPC bid can even be submitted — $200–300K of pre-award exposure on the $9.1M bid slate still in market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831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Absorbed today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hours land in CVR's overhead with no offsetting credit — immaterial now, but it compounds as EPC pursuit volume grows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85546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misalignment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518464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are non-billable, so every EPC pursuit CVR supports drags the metrics CVR is judged on — utilization, realization, OILI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1371600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EAF1FA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536192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14996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bid-support billing</a:t>
            </a:r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RECOMMENDED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91072" y="1828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pays CVR for pre-award engineering on EPC pursuits (cost or card). Hours become billable; cost lands where the benefit lands. Standard EPC practice.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77840" y="2852928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1752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9809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/ loss allocation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91072" y="33101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engineering capitalizes to the pursuit — charged to the job on a win, absorbed by HWC as a BD expense on a loss.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0" y="4334256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0" y="4498848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91072" y="44622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Carve it out of the metrics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91072" y="479145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bid-support hours in a separate BD cost pool so CVR's utilization and realization aren't penalized for pursuit work — a reporting fix, not a cash fix.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9788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952744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is alignment, not subsidy. 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dollars are small today — but as EPC volume scales, the accounting should reward the pursuit behavior the strategy demands.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per the KPI report (through 7/11/26). Raise with the CFO as an EPC accounting-alignment item.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$145K H1 gap: confirm intercompany rate treatment for HWC work, chase billing lag, stop write-offs. Worth up to $32 more per billable hour.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toward targets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plans for the three largest gaps; fill non-billable time with the bid backlog. Reaching targets adds ~27% capacity with zero hires.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Q4 pipeline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single biggest swing ($1,350K). Land the Hoosier/Consumers EPC-paired work — each EPC win pulls 4–5% engineering scope with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goes into the actuals-vs-forecast cadence; the monthly cash draw on USC is the early-warning gauge for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2026-07-22T11:59:36Z</dcterms:created>
  <dcterms:modified xsi:type="dcterms:W3CDTF">2026-07-22T11:59:36Z</dcterms:modified>
</cp:coreProperties>
</file>