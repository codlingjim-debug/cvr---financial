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8/8/26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national expansion targets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EPC accounting alignment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54%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YTD: 5,539 billable hours (through 8/8)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Project Manager — starts 8/24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Transmission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Designer, T-line — starts 9/7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 — Senior PM starts 8/24, Transmission Designer 9/7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reqs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open — T-line, substation, structural engineers (recruiting)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target — down from 60.8% as the bid push absorbed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638 hrs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time YTD (VanMeter, Renaissance, Consumers) — 21% of non-billable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people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points under target (Kevin, Collin, Taylor, Roy) — utilization plans in motion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8/8/26. Randy Pynenberg (73 hrs) and Auston Hopson (22 hrs) have small YTD bases. Bids/BD time is tracked separately (638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(4%)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$274.7K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$274.7K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$173.5K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$155.3K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$865.6K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$866K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pole program now live (005-0005); billing progress trims the rest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workload ramp expected into year-end — pole program burns hard to a Jan-27 finish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Manistique, Angel Mounds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8/8/26.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$274.7K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VanMeter 161kV Substation 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 (MidAmerican)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~$1.23M*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~$14.5M*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~$305K*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(6 MOD switches) 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$275K CVR scope now a live job (005-0005)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8/8/26. ‡ VanMeter due 9/4: * = CVR pre-bid projection under the sub-management model (next slide) — weighted value is expected CVR margin at 40%. Renaissance due 9/15. Other probabilities are planning placeholders — Estimating to own final numbers.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 — PRE-BID PROJECTION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VanMeter 161kV — the sub-management model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161kV substation + 6 miles of transmission for MEC. </a:t>
            </a:r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Westwood performs most of the engineering as CVR's sub</a:t>
            </a:r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CVR manages the sub, holds the EOR oversight, and runs </a:t>
            </a:r>
            <a:pPr indent="0" marL="0">
              <a:buNone/>
            </a:pPr>
            <a:r>
              <a:rPr lang="en-US" sz="125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procurement</a:t>
            </a:r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Bid due 9/4 · 40% win probability · award assumed Oct-26 · energization mid-2028.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6751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51460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revenue 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billings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procurement (principal)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 of EPC = $5.08M · 13% gross, ~11% net of carry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$5.74M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$558K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Westwood engineering subcontract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≈6% of EPC ($0.87M) passed through at 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$0.96M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self-perform (mgmt + EOR + procurement)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 hrs at card rates — LOE below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$0.27M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CVR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≈5.2% of EPC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$6.97M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$760K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920240"/>
          <a:ext cx="4114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level of effort (LOE)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management (Senior PM + new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EOR &amp; design review (Roy / substation eng)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&amp; expediting (with PLS)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controls &amp; QA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≈ 0.9 FTE-yr over ~20 months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343400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76656" y="4416552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value (assumed)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" y="4617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$14.5M</a:t>
            </a:r>
            <a:endParaRPr lang="en-US" sz="2500" dirty="0"/>
          </a:p>
        </p:txBody>
      </p:sp>
      <p:sp>
        <p:nvSpPr>
          <p:cNvPr id="10" name="Text 6"/>
          <p:cNvSpPr/>
          <p:nvPr/>
        </p:nvSpPr>
        <p:spPr>
          <a:xfrm>
            <a:off x="676656" y="5056632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$8.5M + 6 mi line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351276" y="4343400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479292" y="4416552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margin if won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479292" y="4617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$760K</a:t>
            </a:r>
            <a:endParaRPr lang="en-US" sz="2500" dirty="0"/>
          </a:p>
        </p:txBody>
      </p:sp>
      <p:sp>
        <p:nvSpPr>
          <p:cNvPr id="14" name="Text 10"/>
          <p:cNvSpPr/>
          <p:nvPr/>
        </p:nvSpPr>
        <p:spPr>
          <a:xfrm>
            <a:off x="3479292" y="5056632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+ sub mgmt + LOE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153912" y="4343400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81928" y="4416552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 @ 40%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6281928" y="4617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$305K</a:t>
            </a:r>
            <a:endParaRPr lang="en-US" sz="2500" dirty="0"/>
          </a:p>
        </p:txBody>
      </p:sp>
      <p:sp>
        <p:nvSpPr>
          <p:cNvPr id="18" name="Text 14"/>
          <p:cNvSpPr/>
          <p:nvPr/>
        </p:nvSpPr>
        <p:spPr>
          <a:xfrm>
            <a:off x="6281928" y="5056632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probability-weighted margin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8956548" y="4343400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084564" y="4416552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leverage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9084564" y="4617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 FTE-yr</a:t>
            </a:r>
            <a:endParaRPr lang="en-US" sz="2500" dirty="0"/>
          </a:p>
        </p:txBody>
      </p:sp>
      <p:sp>
        <p:nvSpPr>
          <p:cNvPr id="22" name="Text 18"/>
          <p:cNvSpPr/>
          <p:nvPr/>
        </p:nvSpPr>
        <p:spPr>
          <a:xfrm>
            <a:off x="9084564" y="5056632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~6 FTE-yr if self-performed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48640" y="5532120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31520" y="559612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shape:  </a:t>
            </a:r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sub-management model lets CVR take EPC-scale margin without EPC-scale headcount — the roster stays on CenterPoint/DTE/Consumers while VanMeter runs through Westwood and PLS.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Pre-bid planning projection — replace with the estimate at submittal (9/4). Rates per the at-scale model (35% materials share, 13% gross / ~11% net material margin); Westwood scope and markup to be confirmed in the sub agreement.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($275K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active (due Sep-26)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BEYOND THE CURRENT FOOTPRINT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“new logos” — the national expansion list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Electric Power · 11-state footprint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capital plan raised to ~$78B (May 2026) on signed data-center load; largest transmission owner in the U.S.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recent management changes; strong Director/PM and procurement relationships (JimC + potential BD).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 · PA · NJ · WV · MD · ~6M customers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“Energize365” grid plan, 2026–30 — up ~30% vs. prior; transmission &amp; distribution modernization and reliability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key C-suite relationships to leverage — an open door to EPC.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pg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Gas &amp; Electric · N. &amp; Central California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2026–30 capital plan — wildfire undergrounding, grid hardening, and data-center-driven load growth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BD-led — a potential long-term EPC relationship to build.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south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· Alabama · Mississippi · electric + gas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plan raised to $81B (Feb 2026) — data-center &amp; manufacturing load; Georgia Power system growth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relationally weaker, but a major EPC distribution program at Georgia Power.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≈$268B in disclosed five-year capital plans across these four targets.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Lead's national pursuit list — beyond the current Michigan / Indiana / Iowa base.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latest company capital-plan disclosures (Q1 2025–Q1 2026 earnings / SEC filings); plan windows vary (2025–29 to 2026–30) — confirm current guidance. Relationship notes are CVR-internal account intel. Logos are the property of their respective owners.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WHERE WE PLAY AND WHERE WE'RE GOING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CVR's EPC footprint and the national target map</a:t>
            </a:r>
            <a:endParaRPr lang="en-US" sz="2700" dirty="0"/>
          </a:p>
        </p:txBody>
      </p:sp>
      <p:pic>
        <p:nvPicPr>
          <p:cNvPr id="4" name="Image 0" descr="/home/user/CVR---Financial/reports/assets/footpri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353312"/>
            <a:ext cx="9509760" cy="50345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states with a current CVR client; amber = expansion-target service territories. State shading illustrates each utility's footprint, not CVR's contracted scope.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advance the Renaissance 345kV pursuit (now in bid)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THE EPC COMPOUNDING EFFECT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EPC win compounds two CVR streams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dollar won returns ~12.5% to CVR — </a:t>
            </a:r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pull-through engineering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plus </a:t>
            </a:r>
            <a:pPr indent="0" marL="0">
              <a:buNone/>
            </a:pPr>
            <a:r>
              <a:rPr lang="en-US" sz="135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material margin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As wins accumulate, both streams compound.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591056"/>
            <a:ext cx="182880" cy="182880"/>
          </a:xfrm>
          <a:prstGeom prst="rect">
            <a:avLst/>
          </a:prstGeom>
          <a:solidFill>
            <a:srgbClr val="2A78D6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Pull-through engineering — 8% of EPC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60720" y="1591056"/>
            <a:ext cx="182880" cy="182880"/>
          </a:xfrm>
          <a:prstGeom prst="rect">
            <a:avLst/>
          </a:prstGeom>
          <a:solidFill>
            <a:srgbClr val="86B332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0" y="1554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material margin — 4.6% of EPC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371600" y="52578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51480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371600" y="44577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43479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71600" y="36576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5478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371600" y="28575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7477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371600" y="20574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19476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929384" y="5213634"/>
            <a:ext cx="914400" cy="4416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9384" y="5188511"/>
            <a:ext cx="914400" cy="25123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09344" y="4914191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426464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paired wins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59352" y="5065776"/>
            <a:ext cx="914400" cy="192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59352" y="4956562"/>
            <a:ext cx="914400" cy="109214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9312" y="468224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$1.9M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456432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pipeline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89320" y="4617720"/>
            <a:ext cx="914400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9320" y="4253675"/>
            <a:ext cx="914400" cy="364045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397935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0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AEP program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19288" y="3977640"/>
            <a:ext cx="914400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19288" y="3249549"/>
            <a:ext cx="914400" cy="728091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99248" y="2975229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16368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FirstEnergy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049256" y="3337560"/>
            <a:ext cx="914400" cy="19202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49256" y="2245424"/>
            <a:ext cx="914400" cy="1092137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29216" y="197110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546336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at-scale run-rate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accumulation at CVR's capture rates (8% engineering; 13% material margin on 35% materials = 4.6% of EPC). Columns are cumulative CVR annual revenue as EPC wins build toward the $150M at-scale run-rate.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THE EPC COMPOUNDING EFFECT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accumulation economics — and the BD payoff</a:t>
            </a:r>
            <a:endParaRPr lang="en-US" sz="2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051560"/>
                <a:gridCol w="1234440"/>
                <a:gridCol w="1143000"/>
                <a:gridCol w="1280160"/>
                <a:gridCol w="8229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won ($M/yr)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Pull-through eng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Captured mat’l margin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managed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operating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$400K 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$0.7M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$2.3M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$6.3M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$4.6M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$12.6M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$5.1M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$6.8M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$7.6M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22452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is BD-limited, not capability-limited.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can engineer and procure the work today — winning it is the gate. Fund the pursuit and the accumulation follows.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589520" y="1463040"/>
            <a:ext cx="4023360" cy="3611880"/>
          </a:xfrm>
          <a:prstGeom prst="roundRect">
            <a:avLst>
              <a:gd name="adj" fmla="val 1519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0" y="20574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$15M of EPC won returns ~1.9× the BD cost in operating income.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 + FirstEnergy are the accelerators — they carry the ladder from $15M toward $100M+.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dollar compounds both streams; the return scales straight down the column.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~$400K BD resource is the lever on the whole ladder — it converts warm relationships into booked wins.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revenue = engineering (8%) + captured material margin (13% on 35% = 4.6%). Operating income nets ~2 pts procurement/carry and 15% engineering margin. Detail on the 'EPC At-Scale Model' tab.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REVISED 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scale: CVR earns engineering + material margin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~$150M of EPC a year and CVR captures the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scope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indent="0" marL="0">
              <a:buNone/>
            </a:pPr>
            <a:r>
              <a:rPr lang="en-US" sz="14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margin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while HWC keeps the equipment and the labor / construction margin.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$150M/YR PROGRAM REVENUE FLOWS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0848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captures the blue + green bands — </a:t>
            </a:r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 managed revenue (12.5% of the program).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33779" y="2487168"/>
            <a:ext cx="503423" cy="822960"/>
          </a:xfrm>
          <a:prstGeom prst="rect">
            <a:avLst/>
          </a:prstGeom>
          <a:solidFill>
            <a:srgbClr val="86B3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solidFill>
            <a:srgbClr val="D8D6C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· $45.7M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solidFill>
            <a:srgbClr val="AEB4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— equipment + labor + construction · $85.5M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38728"/>
            <a:ext cx="182880" cy="182880"/>
          </a:xfrm>
          <a:prstGeom prst="rect">
            <a:avLst/>
          </a:prstGeom>
          <a:solidFill>
            <a:srgbClr val="2A78D6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— $12.0M (8%)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3538728"/>
            <a:ext cx="182880" cy="182880"/>
          </a:xfrm>
          <a:prstGeom prst="rect">
            <a:avLst/>
          </a:prstGeom>
          <a:solidFill>
            <a:srgbClr val="86B332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material margin — $6.8M (4.6%)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182880" cy="182880"/>
          </a:xfrm>
          <a:prstGeom prst="rect">
            <a:avLst/>
          </a:prstGeom>
          <a:solidFill>
            <a:srgbClr val="D8D6CE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(pass-through) — $45.7M (30%)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849624"/>
            <a:ext cx="182880" cy="182880"/>
          </a:xfrm>
          <a:prstGeom prst="rect">
            <a:avLst/>
          </a:prstGeom>
          <a:solidFill>
            <a:srgbClr val="AEB4B9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equipment + labor + construction — $85.5M (57%)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managed revenue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6656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676656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+ material margin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90749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18765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gross profit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918765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$14.0M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2918765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GP + material margin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32858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60874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operating income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60874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5160874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OILI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274966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2982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the $6M / 20% goal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402982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6.3×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7402982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operating profit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17075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45091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645091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~$6.5M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9645091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carry — needs a facility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468112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554126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at $150M/yr — a future-state target, not the current forecast.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would carry ~$6.5M working capital and material procurement / price risk; confirm payment terms and a financing line with USC / HWC.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editable in CVR_Model_Phase2_Forecast.xlsx → 'EPC At-Scale Model' tab: 35% materials share · 13% material margin (net ~2 pts carry) · 8% engineering pull-through · 15% engineering operating margin.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638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≈$98.6K at card rates ($60.7K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today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hours land in CVR's overhead with no offsetting credit — immaterial now, but it compounds as EPC pursuit volume grows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 it out of the metrics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bid-support hours in a separate BD cost pool so CVR's utilization and realization aren't penalized for pursuit work — a reporting fix, not a cash fix.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dollars are small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8/8/26). Raise with the CFO as an EPC accounting-alignment item.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the BD resource — 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dedicated BD hire (~$400K/yr all-in) to convert AEP and FirstEnergy — both warm. A single mid-size EPC award pays it back in year 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near-term pipeline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biggest swing ($1,350K); land the Hoosier/Consumers EPC-paired work — each EPC win pulls engineering + material margin to CVR.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and realization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$145K H1 realization gap (confirm HWC rate treatment, chase billing lag) and fill non-billable time with the bid backlog — ~27% more capacity, no hires.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into the actuals-vs-forecast cadence; the monthly cash draw on USC is the early-warning gauge for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a BD resource to convert AEP + FirstEnergy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warm IOU targets and a consolidated EPC-with-HWC offering that's ready — the missing piece is dedicated pursuit capacity.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6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783080"/>
            <a:ext cx="21031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008376" y="1892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~$78B capital plan · 11-state footprint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68096" y="24688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warm: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management changes; strong Director/PM + procurement relationships (JimC + potential BD).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8096" y="2971800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&amp; distribution substation EPC — CVR engineering + material margin, HWC construction.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09360" y="1600200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1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8816" y="1783080"/>
            <a:ext cx="21031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69096" y="1892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“Energize365” grid plan (2026–30)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528816" y="24688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warm: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C-suite relationships to leverage — an open door to EPC.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528816" y="2971800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Grid-modernization &amp; substation programs across OH · PA · NJ · WV · MD.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61188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EAF1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77240" y="3611880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one BD resource now —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~$400K/yr all-in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dedicated to AEP + FirstEnergy pursuit.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48640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6656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investment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76656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~$400K/yr</a:t>
            </a:r>
            <a:endParaRPr lang="en-US" sz="2500" dirty="0"/>
          </a:p>
        </p:txBody>
      </p:sp>
      <p:sp>
        <p:nvSpPr>
          <p:cNvPr id="20" name="Text 16"/>
          <p:cNvSpPr/>
          <p:nvPr/>
        </p:nvSpPr>
        <p:spPr>
          <a:xfrm>
            <a:off x="676656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senior BD resource, all-in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3351276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79292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EPC win covers it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3479292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~$0.43M</a:t>
            </a:r>
            <a:endParaRPr lang="en-US" sz="2500" dirty="0"/>
          </a:p>
        </p:txBody>
      </p:sp>
      <p:sp>
        <p:nvSpPr>
          <p:cNvPr id="24" name="Text 20"/>
          <p:cNvSpPr/>
          <p:nvPr/>
        </p:nvSpPr>
        <p:spPr>
          <a:xfrm>
            <a:off x="3479292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take on a single $3.45M job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153912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10% of the vision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281928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~$0.76M</a:t>
            </a:r>
            <a:endParaRPr lang="en-US" sz="2500" dirty="0"/>
          </a:p>
        </p:txBody>
      </p:sp>
      <p:sp>
        <p:nvSpPr>
          <p:cNvPr id="28" name="Text 24"/>
          <p:cNvSpPr/>
          <p:nvPr/>
        </p:nvSpPr>
        <p:spPr>
          <a:xfrm>
            <a:off x="6281928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OI at ~$15M/yr EPC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956548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084564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at-scale upside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9084564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2" name="Text 28"/>
          <p:cNvSpPr/>
          <p:nvPr/>
        </p:nvSpPr>
        <p:spPr>
          <a:xfrm>
            <a:off x="9084564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OI at $150M/yr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548640" y="55961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BD hire now to open AEP + FirstEnergy pursuit immediately.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cost ~$400K/yr all-in (base + benefits + travel). Returns per the 'EPC At-Scale Model' tab; a single mid-size EPC award pays back the resource in year one.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2026-08-17T14:26:15Z</dcterms:created>
  <dcterms:modified xsi:type="dcterms:W3CDTF">2026-08-17T14:26:15Z</dcterms:modified>
</cp:coreProperties>
</file>