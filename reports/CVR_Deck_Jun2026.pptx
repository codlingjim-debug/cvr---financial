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00" b="1" spc="200" kern="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ENGINEERING · UTILITY SUPPLY &amp; CONSTRUCTION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Review &amp; Forecast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401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through June 2026  ·  Forecast through December 2027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GL financial statements 6/30/26 · CVR &amp; EPC KPI report 7/11/26 · 2026 rate sheet · Phase 1 &amp; 2 model workbooks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· revenue vs plan &amp; prior year · gross margin vs budget · the rate ladder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2494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drivers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754880" y="224942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headcount · utilization by person · sales by customer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0358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hand &amp; work to win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754880" y="30358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on active jobs · known pipeline opportunities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221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754880" y="38221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pursuit engine with HWC Estimating · the consolidated EPC offering · the addressable market · BD account ownership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26864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26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085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view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754880" y="460857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coverage · FY2026 landing and FY2027 scenarios · cash &amp; the parent note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13248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13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394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754880" y="5394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Priorities: realization, utilization, the Q4 pipeline, and the monthly rhythm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Engineering financial review &amp; forecast ·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— where CVR Engineering stands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706880" cy="1024128"/>
          </a:xfrm>
          <a:prstGeom prst="roundRect">
            <a:avLst>
              <a:gd name="adj" fmla="val 5357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99032"/>
            <a:ext cx="1450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76656" y="1600200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$551K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76656" y="2039112"/>
            <a:ext cx="1450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$124K — best month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0112" y="1325880"/>
            <a:ext cx="1706880" cy="1024128"/>
          </a:xfrm>
          <a:prstGeom prst="roundRect">
            <a:avLst>
              <a:gd name="adj" fmla="val 5357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8128" y="1399032"/>
            <a:ext cx="1450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plan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48128" y="1600200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54.3%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548128" y="2039112"/>
            <a:ext cx="1450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$464K behind budget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1584" y="1325880"/>
            <a:ext cx="1706880" cy="1024128"/>
          </a:xfrm>
          <a:prstGeom prst="roundRect">
            <a:avLst>
              <a:gd name="adj" fmla="val 5357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9600" y="1399032"/>
            <a:ext cx="1450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prior year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9600" y="1600200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+38.1%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419600" y="2039112"/>
            <a:ext cx="1450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YTD $399K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1325880"/>
            <a:ext cx="1706880" cy="1024128"/>
          </a:xfrm>
          <a:prstGeom prst="roundRect">
            <a:avLst>
              <a:gd name="adj" fmla="val 5357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399032"/>
            <a:ext cx="1450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YTD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91072" y="1600200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291072" y="2039112"/>
            <a:ext cx="1450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assumes 61.6%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34528" y="1325880"/>
            <a:ext cx="1706880" cy="1024128"/>
          </a:xfrm>
          <a:prstGeom prst="roundRect">
            <a:avLst>
              <a:gd name="adj" fmla="val 5357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2544" y="1399032"/>
            <a:ext cx="1450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62544" y="1600200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162544" y="2039112"/>
            <a:ext cx="1450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75% median target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906000" y="1325880"/>
            <a:ext cx="1706880" cy="1024128"/>
          </a:xfrm>
          <a:prstGeom prst="roundRect">
            <a:avLst>
              <a:gd name="adj" fmla="val 5357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34016" y="1399032"/>
            <a:ext cx="1450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34016" y="1600200"/>
            <a:ext cx="1450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10034016" y="2039112"/>
            <a:ext cx="1450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 realized vs $154 card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growing but under plan.  </a:t>
            </a:r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ran below the flat $169K/month budget, yet YTD is 38% ahead of last year and June was the strongest month on record.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3383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 problem is throughput, not cost.  </a:t>
            </a:r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realizes ~$122/hr against a $154/hr rate card at 59% utilization. Closing those two gaps roughly doubles revenue on the current roster.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 is quantified.  </a:t>
            </a:r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forecast turns monthly net income positive in November 2026 and delivers a 17.3% OILI return in 2027 — with the $6M revenue goal requiring a deliberate capacity build beyond it.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net result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5303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−$320.5K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429768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FY2026 landing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97680" y="5303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$1.42M rev · −$352K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786384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 (Base)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63840" y="5303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$2.50M rev · +$432K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 — Actual vs Plan vs Prior Year</a:t>
            </a:r>
            <a:endParaRPr lang="en-US" sz="2700" dirty="0"/>
          </a:p>
        </p:txBody>
      </p:sp>
      <p:pic>
        <p:nvPicPr>
          <p:cNvPr id="4" name="Image 0" descr="/home/user/CVR---Financial/reports/assets/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7863840" cy="30782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$551K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68680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YTD — 54.3% of the $1,014.6K plan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+38.1%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prior-year pace ($399K)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$124.4K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686800" y="4480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revenue — best month YTD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line is a constant-pace approximation to the actual June YTD of $399.1K — monthly 2025 detail pending from GL history.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by month vs the 61.6% budget assumption</a:t>
            </a:r>
            <a:endParaRPr lang="en-US" sz="2700" dirty="0"/>
          </a:p>
        </p:txBody>
      </p:sp>
      <p:pic>
        <p:nvPicPr>
          <p:cNvPr id="4" name="Image 0" descr="/home/user/CVR---Financial/reports/assets/g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7863840" cy="2429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686800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YTD — vs 61.6% budgeted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0" y="3246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gross profit (Mar, May) on write-downs and thin billing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686800" y="4480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margin, near-breakeven operating month (−$9.8K before interest)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income statements, Jan–Jun 2026. Budget gross margin implied by the 2026 budget: labor at 38.4% of revenue.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DRIVERS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ladder — where the card rate goes</a:t>
            </a:r>
            <a:endParaRPr lang="en-US" sz="2700" dirty="0"/>
          </a:p>
        </p:txBody>
      </p:sp>
      <p:pic>
        <p:nvPicPr>
          <p:cNvPr id="4" name="Image 0" descr="/home/user/CVR---Financial/reports/assets/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7315200" cy="104787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931920"/>
            <a:ext cx="7315200" cy="1143000"/>
          </a:xfrm>
          <a:prstGeom prst="roundRect">
            <a:avLst>
              <a:gd name="adj" fmla="val 4800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1148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multiplier:  </a:t>
            </a:r>
            <a:pPr indent="0" marL="0">
              <a:buNone/>
            </a:pPr>
            <a:r>
              <a:rPr lang="en-US" sz="22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1.29×</a:t>
            </a:r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  vs 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2.60×</a:t>
            </a:r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budgeted revenue per direct-labor dollar (healthy firms run 2.5–3.0×)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63840" y="2011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 — $32/hr of card rate not reaching revenue (~$145K in H1)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suspect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86384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intercompany pricing on HWC work (20% of sales); billing lag and write-offs also in scope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sourced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863840" y="4937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per-person cost rates confirmed from the COINS timesheet report — see the next slide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2026: 4,747 billable hours (through 7/11) · blended card rate mix-weighted from actual billable hours by classification.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DRIVERS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by role — a rate-card problem, quantified</a:t>
            </a:r>
            <a:endParaRPr lang="en-US" sz="2700" dirty="0"/>
          </a:p>
        </p:txBody>
      </p:sp>
      <p:pic>
        <p:nvPicPr>
          <p:cNvPr id="4" name="Image 0" descr="/home/user/CVR---Financial/reports/assets/mar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589520" cy="35580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141732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II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12480" y="1737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BELOW its own loaded cost ($96 vs $124) — underwater on every billable hour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12480" y="262432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III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0" y="294436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≈6% margin at full card ($152 vs $144) — goes negative after 79% realization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12480" y="383133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0" y="415137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mid-grades don't clear loaded cost with room to survive realization, overhead, and interest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12480" y="503834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0" y="535838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rate-card review, now defensible with actual per-person cost by grade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cost = COINS standard cost rate × 1.338 (GL-derived burden). Cost rates are base/pay (burden-exclusive). Source: COINS Timesheet Costs Report, Jul 2026.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DRIVERS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headcount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223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100584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YTD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Billable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 Pierce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Engineering (Principal Eng.)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Hayley Worthen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Randy Pynenberg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Little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Erin Bryden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Bhkti Patel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Francis Wagner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Taylor Nelson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II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Craig Peterson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Metts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Designer II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Patrick Nicholson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Designer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Collin Allen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Graphics Technician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Auston Hopson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Graphics Technician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13816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on the engineering roster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38160" y="2606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13816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billable staff with recorded hours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38160" y="3794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138160" y="4297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in the Base hiring plan (Oct-26, Jan-27, Jun-27 → 13 FTE)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4983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138160" y="5486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FTEs needed at target utilization to support the $6M revenue goal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 hours on the KPI utilization page — time booking to be confirmed.  † Classification assumed (not on org chart) — pending confirmation.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DRIVERS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utilization vs target, by person</a:t>
            </a:r>
            <a:endParaRPr lang="en-US" sz="2700" dirty="0"/>
          </a:p>
        </p:txBody>
      </p:sp>
      <p:pic>
        <p:nvPicPr>
          <p:cNvPr id="4" name="Image 0" descr="/home/user/CVR---Financial/reports/assets/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7863840" cy="28186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686800" y="2011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billable utilization vs 75% median target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686800" y="3383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15 points under their individual target (Kevin, Collin, Taylor)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 pts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686800" y="4754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targets adds ~27% billable capacity with zero hires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through 7/11/26. Randy Pynenberg (68 hrs) and Auston Hopson (18 hrs) have small YTD bases. Bids/BD time is tracked separately (405 hrs).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DRIVERS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customer — YTD June 2026</a:t>
            </a:r>
            <a:endParaRPr lang="en-US" sz="2700" dirty="0"/>
          </a:p>
        </p:txBody>
      </p:sp>
      <p:pic>
        <p:nvPicPr>
          <p:cNvPr id="4" name="Image 0" descr="/home/user/CVR---Financial/reports/assets/c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7863840" cy="19423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686800" y="2011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is CenterPoint — matching its ~70% share of billable hours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686800" y="3383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intercompany work for Hydaker-Wheatlake (rate treatment under review)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68680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external customers combined — diversification is the growth agenda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sales-by-customer schedule, 6/30/26. Total $551.0K.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HAND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— remaining value on active jobs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108960"/>
                <a:gridCol w="1143000"/>
                <a:gridCol w="1143000"/>
                <a:gridCol w="114300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/ project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001-0003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DTE — New Baltimore Conversion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$1,428.8K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$1,216.3K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$212.5K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Dec-27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017-0007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CenterPoint — Leonard Rd 69kV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$6.7K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$193.3K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Oct-27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017-0006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CenterPoint — Northwest 69kV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$110.6K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$4.4K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$106.2K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Aug-27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017-0003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CenterPoint — Gateway 69kV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$203.0K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$131.2K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$71.8K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005-0004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 — HVD Line Sensors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$130.5K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$71.3K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$59.2K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001-0001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DTE — Catalina Ph 3 (support tail)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$838.5K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$806.3K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$32.1K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017-0004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CenterPoint — Rockport 69kV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$96.7K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$81.7K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016-0001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Cloverland — Manistique Pump Stn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$111.5K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$106.6K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017-0005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CenterPoint — Angel Mounds 69kV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$95.1K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backlog remaining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$696.8K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96112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$697K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961120" y="2011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work remaining — about 5 months of Base-forecast revenue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6112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jobs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961120" y="33832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57% of it (New Baltimore, Leonard Rd), both finishing late 2027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close-outs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961120" y="4754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Gateway, Rockport, Manistique wrap by Oct-26 — replacement work needed now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project scorecard, week ending 7/11/26. Remaining = PO value − billed to date; excludes cost-overrun exposure tracked on the scorecard.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pipeline opportunities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7782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051560"/>
                <a:gridCol w="1143000"/>
                <a:gridCol w="868680"/>
                <a:gridCol w="1005840"/>
                <a:gridCol w="777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CVR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EPC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prob.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Use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Lansing Board of Water &amp; Light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$1,350.0K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$675.0K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Rosehill–Rockport 69kV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Hoosier Energy 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$290.0K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$5,590.9K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Pole Replacements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 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$276.5K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$3,451.1K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$185.2K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Jacksonburg–Gateway 69kV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Hoosier Energy 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$3,548.5K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Make Ready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Steuben County REMC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Renaissance 345kV Substation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DTE 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$2,176.5K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$12,590.5K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$1,135.2K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60120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601200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win rate to date (up from 50% in 2025)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60120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601200" y="3383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share of paired EPC contract value — every EPC win pulls CVR scope with it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60120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601200" y="4754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gap beyond this list to fully cover the 18-month Base forecast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current-bids page, 7/11/26. Win probabilities are planning placeholders (2026 win rate or 50%) — Estimating to own final numbers and award dates.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ONE DELIVERY ORGANIZATION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pursuit engine: Engineering + Estimating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two linked groups, one funnel forming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669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~10-person estimating organization (Director of Estimating plus senior estimators) sits beside the 13-person engineering roster — same leadership, same customers.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already invests 405 hours YTD in bids and proposals — 20% of its non-billable time — but informally, after the estimate is framed.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EPC-paired pursuits (Hoosier, Consumers) are already priced with engineering scope inside them — the consolidated model exists in embryo.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481328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6948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pursuit funnel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269480" y="17556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bid list owned jointly; engineering hours planned into every estimate from day one, not volunteered afterward.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5120" y="2532888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Design-to-estimate loop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69480" y="28072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design packages and unit-hour norms feed estimating's cost baselines, so bids carry engineering reality.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0" y="3584448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948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Estimate-to-execution handoff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9480" y="38587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estimate becomes the project budget the weekly scorecard tracks — one number from bid to closeout.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983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variance is the biggest margin leak on the scorecard (individual jobs overran to −92% and −206%). Early engineering input into estimates is the structural fix — and it converts estimating support from overhead into billable pursuit capacity.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THE CONSOLIDATED OFFERING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Refocus: pursue EPC with new clients as one offering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7872" cy="1463040"/>
          </a:xfrm>
          <a:prstGeom prst="chevron">
            <a:avLst/>
          </a:prstGeom>
          <a:solidFill>
            <a:srgbClr val="CDE2FB"/>
          </a:solidFill>
          <a:ln w="12700">
            <a:solidFill>
              <a:srgbClr val="CDE2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1801368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function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supports HWC construction and bills hours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9392" y="1417320"/>
            <a:ext cx="3547872" cy="1463040"/>
          </a:xfrm>
          <a:prstGeom prst="chevron">
            <a:avLst/>
          </a:prstGeom>
          <a:solidFill>
            <a:srgbClr val="9EC5F4"/>
          </a:solidFill>
          <a:ln w="12700">
            <a:solidFill>
              <a:srgbClr val="9EC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7276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0" y="180136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engineer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46320" y="2103120"/>
            <a:ext cx="2404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design control; engineering priced into every EPC bid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417320"/>
            <a:ext cx="3547872" cy="1463040"/>
          </a:xfrm>
          <a:prstGeom prst="chevron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157276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77072" y="180136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of Record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77072" y="2103120"/>
            <a:ext cx="2404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EPC — supply, engineering, construction sold and delivered together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one accountable offer — material supply, engineering, and construction priced and sold together, with single-point delivery risk the utility doesn't have to manage.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it at new clients — the co-op and municipal pattern already responding (Hoosier, Steuben, Lansing BWL) — to grow revenue while cutting the 70% CenterPoint concentration.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EPC win feeds both P&amp;Ls: construction margin to HWC, and 4–5% of contract value as engineering scope to CVR — the revenue that funds the capacity build toward $6M.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$12.6M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858000" y="36850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EPC-paired bids already in market with Hoosier and Consumers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858000" y="46451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pull-through on every EPC contract won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0" y="5166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858000" y="56052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win rate — the consolidated offer is landing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path per the CVR strategy roadmap: support function → prime engineer → Engineer of Record / turnkey program support.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THE CONSOLIDATED OFFERING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addressable EPC market in our current client base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59552" cy="2084832"/>
          </a:xfrm>
          <a:prstGeom prst="roundRect">
            <a:avLst>
              <a:gd name="adj" fmla="val 2632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5361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Energy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Michigan — electric &amp; gas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" y="215798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&gt;$17B  </a:t>
            </a:r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capital plan; $8.5B of distribution reliability &amp; resilience through 2029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2944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Foothold: HVD line-sensor &amp; pole programs live; $3.5M EPC-paired pole-replacement bid pending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91072" y="1371600"/>
            <a:ext cx="5559552" cy="2084832"/>
          </a:xfrm>
          <a:prstGeom prst="roundRect">
            <a:avLst>
              <a:gd name="adj" fmla="val 2632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361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DTE Energy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18379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Michigan — electric &amp; gas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10528" y="215798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$36.5B  </a:t>
            </a:r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plan 2026–30 — up 20% on data-center load and grid reliability spend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10528" y="2944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Foothold: New Baltimore &amp; Catalina conversions ($2.3M PO); Renaissance 345kV bid on hold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5559552" cy="2084832"/>
          </a:xfrm>
          <a:prstGeom prst="roundRect">
            <a:avLst>
              <a:gd name="adj" fmla="val 2632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7490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CenterPoint Energy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8096" y="40507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Electric + Houston Electric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8096" y="4370832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$65B  </a:t>
            </a:r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plan 2026–35; Houston Electric $46.3B; Indiana transmission &amp; data-center upside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68096" y="51572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Foothold: 7 active Indiana substation jobs; Houston presence = the expansion runway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91072" y="3584448"/>
            <a:ext cx="5559552" cy="2084832"/>
          </a:xfrm>
          <a:prstGeom prst="roundRect">
            <a:avLst>
              <a:gd name="adj" fmla="val 2632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7490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4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MidAmerican Energy (MEC)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10528" y="40507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— Berkshire Hathaway Energy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10528" y="4370832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$3.9B  </a:t>
            </a:r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PRIME program, on top of ~$14B invested in Iowa energy infrastructure since 2004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10528" y="51572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Foothold: 4 active EPC substation projects with HWC ($21.7M PO value)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870448"/>
            <a:ext cx="11064240" cy="475488"/>
          </a:xfrm>
          <a:prstGeom prst="roundRect">
            <a:avLst>
              <a:gd name="adj" fmla="val 9615"/>
            </a:avLst>
          </a:prstGeom>
          <a:solidFill>
            <a:srgbClr val="EAF1FA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9436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≈$120B in disclosed capital plans across this client base.  </a:t>
            </a:r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0.005% captured as engineering = the $6M Year-2 goal.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sources: company capital-plan announcements and filings (Utility Dive, SEC 8-K, company releases), July 2026. Wordmarks shown; drop official logo files into reports/assets/logos/ and rebuild to swap them in.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BUSINESS DEVELOPMENT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owner on every EPC account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2237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383280"/>
                <a:gridCol w="22402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 pursuit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owner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current footprint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utilities &amp; regions beyond MI/IN/IA — Gulf Coast &amp; Texas, MISO/PJM neighbors, data-center-driven grid build-out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Lead (new hire) — owns the map, coordinates all account managers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CenterPoint — Indiana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Substation program continuity; move from job-by-job to a program-level agreement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 Pierce (VP Engineering — current PM)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CenterPoint — Houston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into the $46.3B Houston Electric resiliency build — new territory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SVP Engineering (Houston-based)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DTE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program follow-on; revive the Renaissance 345kV pursuit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— VP Engineering or new 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pole/sensor programs into EPC-paired awards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 Miller (Director of Estimating)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MidAmerican (MEC)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the 4-project EPC substation 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Ethan McDaniel (EPC PM — current)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Co-op &amp; municipal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Hoosier, Steuben, Lansing BWL, Great Lakes — the consolidated-offer beachhead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EPC Account Manager (hire)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Prospects in 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NIPSCO, AES Ohio, AES Indiana, Duke — BD hours already flowing, no owner yet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EPC Account Manager (hire)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1371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today — $0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92440" y="1709928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accounts get named owners from existing leadership. The 590 hours of BD &amp; proposal time already spent YTD becomes a managed funnel instead of volunteer work.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92440" y="3063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 seats — BD Lead + 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92440" y="3401568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BD Lead hunts outside the footprint and owns the consolidated-offer story to new logos; the Account Manager works the co-op/municipal cluster and prospects. One EPC win repays both seats — 4–5% engineering pull-through to CVR plus construction margin to HWC.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92440" y="4754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cadence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92440" y="5093208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account reviews against the pipeline tab, chaired by the BD Lead. Owners set win probabilities and award dates; BD hours tracked per account.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Proposed from current relationships on the KPI scorecards — to be confirmed with the team. YTD BD hours by account (KPI report): Great Lakes 56 · CenterPoint 35.5 · Consumers 26.5 · DTE 19.5 · NIPSCO 10 · AES 10 — plus 408 proposal hours.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VIEW — PHASE 2 MODEL, BASE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revenue &amp; work coverage, Jul 2026 – Dec 2027</a:t>
            </a:r>
            <a:endParaRPr lang="en-US" sz="2700" dirty="0"/>
          </a:p>
        </p:txBody>
      </p:sp>
      <p:pic>
        <p:nvPicPr>
          <p:cNvPr id="4" name="Image 0" descr="/home/user/CVR---Financial/reports/assets/c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7863840" cy="2834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686800" y="2011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18-month forecast covered by backlog + weighted pipeline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0" y="3383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booked backlog alone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$1,724K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68680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originate — the BD target; thinnest coverage is H2-2027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= FTE × hours × utilization × card rate × realization (Base path: 59→70% utilization, 79→90% realization, 10→13 FTE).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landing, FY2027 outlook, and scenarios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1051560"/>
                <a:gridCol w="100584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 ($K)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forecast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landing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2,029.1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−320.5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−351.8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FY2027 (Base)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2,496.6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 (42%)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6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OILI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77240"/>
                <a:gridCol w="86868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 rev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 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OILI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 (75% · 95% · 16 FTE)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6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(70% · 90% · 13 FTE)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6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Downside (no change)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6400800" y="3246120"/>
            <a:ext cx="5577840" cy="2743200"/>
          </a:xfrm>
          <a:prstGeom prst="roundRect">
            <a:avLst>
              <a:gd name="adj" fmla="val 2000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583680" y="3429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6583680" y="37947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budget is out of reach — socialize the re-forecast rather than track to a 2.7× H2 run-rate.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income turns positive in November 2026 in the Base case.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20% OILI return is a performance goal — reachable. The $6M revenue is a capacity goal (~27 billable FTEs).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and realization are the two levers that double revenue on the current roster.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forecast model — scenarios switchable in CVR_Model_Phase2_Forecast.xlsx (Drivers tab).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the USC parent note — the early-warning gauge</a:t>
            </a:r>
            <a:endParaRPr lang="en-US" sz="2700" dirty="0"/>
          </a:p>
        </p:txBody>
      </p:sp>
      <p:pic>
        <p:nvPicPr>
          <p:cNvPr id="4" name="Image 0" descr="/home/user/CVR---Financial/reports/assets/n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7315200" cy="35895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$3.44M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686800" y="2011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balance at 6/30/26 — CVR's entire funding runs through this account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$3.59M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0" y="3383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peak in Jan-27, then a steady decline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−$209K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68680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paydown by Dec-27 in the Base case; Downside grows it to $3.82M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holds no cash: deficits draw the note, surpluses repay it (~$5K/mo interest accrues). If the balance isn't flattening by Q1-27, the drivers aren't moving.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VIEW — ACCOUNTING ALIGNMENT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bid engineering: an item to clean up, not a crisis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hrs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1122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bid engineering YTD — ≈$62.6K at card rates ($38.5K at cost), unbilled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8072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design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13639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a fixed-price EPC bid can even be submitted — $250–380K of pre-award exposure on the $12.6M bid slate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8313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$30.1K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note interest charged to CVR in H1 — roughly a wash against bid engineering at cost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8554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misalignment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518464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hours are non-billable, so every EPC pursuit CVR supports drags the metrics CVR is judged on — utilization, realization, OILI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1371600"/>
            <a:ext cx="6035040" cy="1353312"/>
          </a:xfrm>
          <a:prstGeom prst="roundRect">
            <a:avLst>
              <a:gd name="adj" fmla="val 4054"/>
            </a:avLst>
          </a:prstGeom>
          <a:solidFill>
            <a:srgbClr val="EAF1FA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536192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1072" y="1499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Intercompany bid-support billing</a:t>
            </a:r>
            <a:pPr indent="0" marL="0">
              <a:buNone/>
            </a:pPr>
            <a:r>
              <a:rPr lang="en-US" sz="95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RECOMMENDED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91072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HWC pays CVR for pre-award engineering on EPC pursuits (cost or card). Hours become billable; cost lands where the benefit lands. Standard EPC practice.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2852928"/>
            <a:ext cx="6035040" cy="1353312"/>
          </a:xfrm>
          <a:prstGeom prst="roundRect">
            <a:avLst>
              <a:gd name="adj" fmla="val 4054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017520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29809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/ loss allocation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1072" y="331012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engineering capitalizes to the pursuit — charged to the job on a win, absorbed by HWC as a BD expense on a loss.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77840" y="4334256"/>
            <a:ext cx="6035040" cy="1353312"/>
          </a:xfrm>
          <a:prstGeom prst="roundRect">
            <a:avLst>
              <a:gd name="adj" fmla="val 4054"/>
            </a:avLst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4498848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91072" y="44622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credit against bid hours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91072" y="479145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credits note interest against documented bid-support hours. Fixes the cash, but leaves the hours non-billable — the metrics stay misaligned.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89788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952744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is alignment, not subsidy.  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 are roughly a wash today — but as EPC volume scales, the accounting should reward the pursuit behavior the strategy demands.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hours per the KPI report (through 7/11/26); interest per the GL. Raise with the CFO alongside the note-terms discussion.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B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b="1" spc="200" kern="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realization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29384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$145K H1 gap: confirm intercompany rate treatment for HWC work, chase billing lag, stop write-offs. Worth up to $32 more per billable hour.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807208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utilization toward targets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36392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plans for the three largest gaps; fill non-billable time with the bid backlog. Reaching targets adds ~27% capacity with zero hires.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014216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Q4 pipeline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Lansing BWL audit is the single biggest swing ($1,350K). Land the Hoosier/Consumers EPC-paired work — each EPC win pulls 4–5% engineering scope with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66944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522122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monthly rhythm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550408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close goes into the actuals-vs-forecast cadence; note-balance trajectory is the early-warning gauge for USC reporting.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Engineering · prepared July 2026 · model workbooks and data in the CVR---Financial repository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2026-07-20T19:28:42Z</dcterms:created>
  <dcterms:modified xsi:type="dcterms:W3CDTF">2026-07-20T19:28:42Z</dcterms:modified>
</cp:coreProperties>
</file>