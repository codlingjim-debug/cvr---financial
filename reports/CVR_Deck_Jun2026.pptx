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new leadership post-BHE takeover;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WHERE WE PLAY AND WHERE WE'RE GOING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CVR's EPC footprint and the national target map</a:t>
            </a:r>
            <a:endParaRPr lang="en-US" sz="2700" dirty="0"/>
          </a:p>
        </p:txBody>
      </p:sp>
      <p:pic>
        <p:nvPicPr>
          <p:cNvPr id="4" name="Image 0" descr="/home/user/CVR---Financial/reports/assets/footpri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53312"/>
            <a:ext cx="9509760" cy="50345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states with a current CVR client; amber = expansion-target service territories. State shading illustrates each utility's footprint, not CVR's contracted scope.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REVISED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CVR earns engineering + material margin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~$150M of EPC a year and CVR captures the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scope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indent="0" marL="0">
              <a:buNone/>
            </a:pPr>
            <a:r>
              <a:rPr lang="en-US" sz="14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margin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while HWC keeps the equipment and the labor / construction margin.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$150M/YR PROGRAM REVENUE FLOWS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0848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captures the blue + green bands — </a:t>
            </a:r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 managed revenue (12.5% of the program).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33779" y="2487168"/>
            <a:ext cx="503423" cy="822960"/>
          </a:xfrm>
          <a:prstGeom prst="rect">
            <a:avLst/>
          </a:prstGeom>
          <a:solidFill>
            <a:srgbClr val="86B3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solidFill>
            <a:srgbClr val="D8D6C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· $45.7M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solidFill>
            <a:srgbClr val="AEB4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— equipment + labor + construction · $85.5M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38728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— $12.0M (8%)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538728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material margin — $6.8M (4.6%)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182880" cy="182880"/>
          </a:xfrm>
          <a:prstGeom prst="rect">
            <a:avLst/>
          </a:prstGeom>
          <a:solidFill>
            <a:srgbClr val="D8D6CE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(pass-through) — $45.7M (30%)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49624"/>
            <a:ext cx="182880" cy="182880"/>
          </a:xfrm>
          <a:prstGeom prst="rect">
            <a:avLst/>
          </a:prstGeom>
          <a:solidFill>
            <a:srgbClr val="AEB4B9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equipment + labor + construction — $85.5M (57%)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managed revenue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656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676656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material margin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0749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8765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gross profit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18765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$14.0M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2918765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GP + material margin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32858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0874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operating income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60874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5160874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OILI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274966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2982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$6M / 20% goal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02982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6.3×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7402982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operating profit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17075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45091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645091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~$6.5M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9645091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carry — needs a facility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46811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54126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at $150M/yr — a future-state target, not the current forecast.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would carry ~$6.5M working capital and material procurement / price risk; confirm payment terms and a financing line with USC / HWC.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editable in CVR_Model_Phase2_Forecast.xlsx → 'EPC At-Scale Model' tab: 35% materials share · 13% material margin (net ~2 pts carry) · 8% engineering pull-through · 15% engineering operating margin.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2026-07-28T15:10:38Z</dcterms:created>
  <dcterms:modified xsi:type="dcterms:W3CDTF">2026-07-28T15:10:38Z</dcterms:modified>
</cp:coreProperties>
</file>