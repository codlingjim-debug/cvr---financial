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· revenue vs plan &amp; prior year · gross margin vs budget · the rate ladder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2494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754880" y="224942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 · utilization by person · sales by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0358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 &amp; work to win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54880" y="3035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on active jobs · known pipeline opportunities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38221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754880" y="382219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 with HWC Estimating · the consolidated EPC offering · the addressable market · BD account ownership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626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4754880" y="460857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&amp; coverage · FY2026 landing and FY2027 scenarios · cash &amp; the parent note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132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88720" y="5394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754880" y="5394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Priorities: realization, utilization, the Q4 pipeline, and the monthly rhythm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financial review &amp; forecast ·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(reconciled to finance's fully-loaded cost) turns FY2027 net income positive at +$123K — with the $6M / 20% OILI target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−$482K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+$123K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sourced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per-person cost confirmed from finance's 2026 budget — every role clears its rate (next slide)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by role — the rate card holds</a:t>
            </a:r>
            <a:endParaRPr lang="en-US" sz="2700" dirty="0"/>
          </a:p>
        </p:txBody>
      </p:sp>
      <p:pic>
        <p:nvPicPr>
          <p:cNvPr id="4" name="Image 0" descr="/home/user/CVR---Financial/reports/assets/mar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35580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141732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1.7×–2.2×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412480" y="17373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 clears its bill rate at a healthy labor multiplier on finance's loaded-cost basis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412480" y="2624328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pricing problem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0" y="294436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card is adequate — no classification bills below its cost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0" y="3831336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where's the gap?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12480" y="4151376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blends to 2.6× revenue-per-labor-dollar; H1 actual ran 1.29× — that gap is realization and utilization, not the card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412480" y="5038344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the fix there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0" y="535838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 and lift utilization — the two levers that move margin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cost = base + 25% benefits + bonus per hour. Source: 2026 CVR Budget V5 (finance), tab Labor Rates-DP.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about 5 months of Base-forecast revenue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57%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$185.2K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$12,590.5K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$1,135.2K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to date (up from 50% in 2025)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$12.6M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already in market with Hoosier and Consumers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536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Energy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&amp; pole programs live; $3.5M EPC-paired pole-replacement bid pending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0528" y="1536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DTE Energy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10528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on hold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8096" y="3749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CenterPoint Energy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68096" y="40507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10528" y="3749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4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MidAmerican Energy (MEC)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10528" y="40507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Wordmarks shown; drop official logo files into reports/assets/logos/ and rebuild to swap them in.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BUSINESS 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on every EPC account</a:t>
            </a:r>
            <a:endParaRPr lang="en-US" sz="2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383280"/>
                <a:gridCol w="2240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pursuit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owner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current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utilities &amp; regions beyond MI/IN/IA — Gulf Coast &amp; Texas, MISO/PJM neighbors, data-center-driven grid build-out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Lead (new hire) — owns the map, coordinates all account managers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Indiana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Substation program continuity; move from job-by-job to a program-level 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 (VP Engineering — current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Houston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into the $46.3B Houston Electric resiliency build — new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SVP Engineering (Houston-based)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program follow-on; revive the Renaissance 345kV pursuit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— VP Engineering or new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pole/sensor programs into EPC-paired awards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 Miller (Director of Estimating)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MidAmerican (MEC)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4-project EPC substation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 McDaniel (EPC PM — current)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 &amp; municipal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Hoosier, Steuben, Lansing BWL, Great Lakes — the consolidated-offer beachhead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 in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NIPSCO, AES Ohio, AES Indiana, Duke — BD hours already flowing, no owner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092440" y="1371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today — $0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092440" y="170992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accounts get named owners from existing leadership. The 590 hours of BD &amp; proposal time already spent YTD becomes a managed funnel instead of volunteer work.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0924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seats — BD Lead + 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92440" y="340156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 hunts outside the footprint and owns the consolidated-offer story to new logos; the Account Manager works the co-op/municipal cluster and prospects. One EPC win repays both seats — 4–5% engineering pull-through to CVR plus construction margin to HWC.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92440" y="4754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cadence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92440" y="509320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account reviews against the pipeline tab, chaired by the BD Lead. Owners set win probabilities and award dates; BD hours tracked per account.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Proposed from current relationships on the KPI scorecards — to be confirmed with the team. YTD BD hours by account (KPI report): Great Lakes 56 · CenterPoint 35.5 · Consumers 26.5 · DTE 19.5 · NIPSCO 10 · AES 10 — plus 408 proposal hours.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PHASE 2 MODEL, BASE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&amp; work coverage, Jul 2026 – Dec 2027</a:t>
            </a:r>
            <a:endParaRPr lang="en-US" sz="2700" dirty="0"/>
          </a:p>
        </p:txBody>
      </p:sp>
      <p:pic>
        <p:nvPicPr>
          <p:cNvPr id="4" name="Image 0" descr="/home/user/CVR---Financial/reports/assets/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347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18-month forecast covered by backlog + weighted pipeline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booked backlog alone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$1,724K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originate — the BD target; thinnest coverage is H2-2027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FTE × hours × utilization × card rate × realization (Base path: 59→70% utilization, 79→90% realization, 10→13 FTE).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landing, FY2027 outlook, and scenarios</a:t>
            </a:r>
            <a:endParaRPr lang="en-US" sz="2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051560"/>
                <a:gridCol w="100584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($K)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landing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−420.4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−161.2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FY2027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(42%)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86868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 (75% · 95% · 16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(70% · 90% · 13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 (no change)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246120"/>
            <a:ext cx="5577840" cy="27432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583680" y="3429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583680" y="37947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now finance's fully-loaded basis — the forecast reconciles to the budget dollar-for-dollar.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budget is out of reach; the honest FY26 landing is ~$1.42M revenue and a $480K loss.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turns positive in the Base case (+$123K); the Upside path reaches the 20% OILI aspiration.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and realization are the levers — the $6M / 20% target is a capacity build (~27 FTEs).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forecast model — scenarios switchable in CVR_Model_Phase2_Forecast.xlsx (Drivers tab).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&amp; the USC parent note — the early-warning gauge</a:t>
            </a:r>
            <a:endParaRPr lang="en-US" sz="2700" dirty="0"/>
          </a:p>
        </p:txBody>
      </p:sp>
      <p:pic>
        <p:nvPicPr>
          <p:cNvPr id="4" name="Image 0" descr="/home/user/CVR---Financial/reports/assets/no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7315200" cy="35895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$3.44M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balance at 6/30/26 — CVR's entire funding runs through this account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$3.77M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peak in mid-2027 — the note keeps growing while the turnaround builds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+$231K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drawing by end-2027 in the Base case; only the Upside path flattens and repays it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holds no cash: deficits draw the note, surpluses repay it (~$5K/mo interest accrues). Reconciled to finance's fully-loaded cost — a more conservative trajectory than the prior estimate.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ACCOUNTING ALIGNMENT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 bid engineering: an item to clean up, not a crisis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 hrs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11226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 engineering YTD — ≈$62.6K at card rates ($38.5K at cost), unbilled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807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design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313639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before a fixed-price EPC bid can even be submitted — $250–380K of pre-award exposure on the $12.6M bid slate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831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$30.1K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41605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note interest charged to CVR in H1 — roughly a wash against bid engineering at cost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85546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misalignment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518464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are non-billable, so every EPC pursuit CVR supports drags the metrics CVR is judged on — utilization, realization, OILI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1371600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EAF1FA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536192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14996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bid-support billing</a:t>
            </a:r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RECOMMENDED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91072" y="1828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pays CVR for pre-award engineering on EPC pursuits (cost or card). Hours become billable; cost lands where the benefit lands. Standard EPC practice.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77840" y="2852928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01752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29809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/ loss allocation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91072" y="33101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engineering capitalizes to the pursuit — charged to the job on a win, absorbed by HWC as a BD expense on a loss.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0" y="4334256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0" y="4498848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7607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91072" y="44622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credit against bid hours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91072" y="479145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credits note interest against documented bid-support hours. Fixes the cash, but leaves the hours non-billable — the metrics stay misaligned.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9788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952744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is alignment, not subsidy. 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Dollars are roughly a wash today — but as EPC volume scales, the accounting should reward the pursuit behavior the strategy demands.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per the KPI report (through 7/11/26); interest per the GL. Raise with the CFO alongside the note-terms discussion.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$145K H1 gap: confirm intercompany rate treatment for HWC work, chase billing lag, stop write-offs. Worth up to $32 more per billable hour.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toward targets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plans for the three largest gaps; fill non-billable time with the bid backlog. Reaching targets adds ~27% capacity with zero hires.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Q4 pipeline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single biggest swing ($1,350K). Land the Hoosier/Consumers EPC-paired work — each EPC win pulls 4–5% engineering scope with 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goes into the actuals-vs-forecast cadence; note-balance trajectory is the early-warning gauge for USC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2026-07-20T20:05:34Z</dcterms:created>
  <dcterms:modified xsi:type="dcterms:W3CDTF">2026-07-20T20:05:34Z</dcterms:modified>
</cp:coreProperties>
</file>