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7/25/26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national expansion targets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EPC accounting alignment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60.8%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61%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(reconciled to finance's fully-loaded cost) turns FY2027 net income positive at +$123K — with the $6M / 20% OILI target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−$482K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+$123K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sourced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per-person cost confirmed from finance's 2026 budget — every role clears its rate (next slide)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5,116 billable hours (through 7/25)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by role — the rate card holds</a:t>
            </a:r>
            <a:endParaRPr lang="en-US" sz="2700" dirty="0"/>
          </a:p>
        </p:txBody>
      </p:sp>
      <p:pic>
        <p:nvPicPr>
          <p:cNvPr id="4" name="Image 0" descr="/home/user/CVR---Financial/reports/assets/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35580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1732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1.7×–2.2×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412480" y="1737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clears its bill rate at a healthy labor multiplier on finance's loaded-cost basis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412480" y="262432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pricing problem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29443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card is adequate — no classification bills below its cost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0" y="38313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where's the gap?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0" y="415137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blends to 2.6× revenue-per-labor-dollar; H1 actual ran 1.29× — that gap is realization and utilization, not the card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412480" y="5038344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the fix there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0" y="5358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 and lift utilization — the two levers that move margin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cost = base + 25% benefits + bonus per hour. Source: 2026 CVR Budget V5 (finance), tab Labor Rates-DP.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60.8%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7/25/26. Randy Pynenberg (68 hrs) and Auston Hopson (22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2026 Pole Replacements (WON)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$973K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up $276K on the new Consumers pole win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over half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7/25/26.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backlog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VanMeter 161kV Substation 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 (MidAmerican)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EPC-paired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bid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(6 MOD switches) 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bid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total (ex-won)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$9,139.4K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pole replacements — $276K CVR scope now booked to backlog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7/25/26. ‡ Newly in bid (due Sep-26), both EPC-paired: MEC VanMeter (greenfield 161kV + 6 mi transmission) and DTE Renaissance (off hold). Win probabilities are planning placeholders (2026 win rate 69% or 50%) — Estimating to own final numbers.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$9.1M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still in market with Hoosier (Consumers pole program now won)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consum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program live; 2026 pole replacements WON ($276K CVR scope, $3.45M EPC-paired)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d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active (due Sep-26)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centerpoin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midameric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Logos are the property of their respective owners; shown for internal reference only.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BEYOND THE CURRENT FOOTPRINT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“new logos” — the national expansion list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a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Electric Power · 11-state footprint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capital plan raised to ~$78B (May 2026) on signed data-center load; largest transmission owner in the U.S.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recent management changes; strong Director/PM and procurement relationships (JimC + potential BD).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firstener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 · PA · NJ · WV · MD · ~6M customers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“Energize365” grid plan, 2026–30 — up ~30% vs. prior; transmission &amp; distribution modernization and reliability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key C-suite relationships to leverage — an open door to EPC.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pg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Pacific Gas &amp; Electric · N. &amp; Central California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2026–30 capital plan — wildfire undergrounding, grid hardening, and data-center-driven load growth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BD-led — a potential long-term EPC relationship to build.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souther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Georgia · Alabama · Mississippi · electric + gas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plan raised to $81B (Feb 2026) — data-center &amp; manufacturing load; Georgia Power system growth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relationally weaker, but a major EPC distribution program at Georgia Power.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≈$268B in disclosed five-year capital plans across these four targets.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Lead's national pursuit list — beyond the current Michigan / Indiana / Iowa base.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latest company capital-plan disclosures (Q1 2025–Q1 2026 earnings / SEC filings); plan windows vary (2025–29 to 2026–30) — confirm current guidance. Relationship notes are CVR-internal account intel. Logos are the property of their respective owners.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WHERE WE PLAY AND WHERE WE'RE GOING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CVR's EPC footprint and the national target map</a:t>
            </a:r>
            <a:endParaRPr lang="en-US" sz="2700" dirty="0"/>
          </a:p>
        </p:txBody>
      </p:sp>
      <p:pic>
        <p:nvPicPr>
          <p:cNvPr id="4" name="Image 0" descr="/home/user/CVR---Financial/reports/assets/footprint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353312"/>
            <a:ext cx="9509760" cy="503457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= states with a current CVR client; amber = expansion-target service territories. State shading illustrates each utility's footprint, not CVR's contracted scope.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advance the Renaissance 345kV pursuit (now in bid)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THE EPC COMPOUNDING EFFECT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EPC win compounds two CVR streams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dollar won returns ~12.5% to CVR — </a:t>
            </a:r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pull-through engineering</a:t>
            </a:r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plus </a:t>
            </a:r>
            <a:pPr indent="0" marL="0">
              <a:buNone/>
            </a:pPr>
            <a:r>
              <a:rPr lang="en-US" sz="135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material margin</a:t>
            </a:r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As wins accumulate, both streams compound.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591056"/>
            <a:ext cx="182880" cy="182880"/>
          </a:xfrm>
          <a:prstGeom prst="rect">
            <a:avLst/>
          </a:prstGeom>
          <a:solidFill>
            <a:srgbClr val="2A78D6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Pull-through engineering — 8% of EPC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60720" y="1591056"/>
            <a:ext cx="182880" cy="182880"/>
          </a:xfrm>
          <a:prstGeom prst="rect">
            <a:avLst/>
          </a:prstGeom>
          <a:solidFill>
            <a:srgbClr val="86B332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35040" y="1554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material margin — 4.6% of EPC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371600" y="5257800"/>
            <a:ext cx="10149840" cy="10058"/>
          </a:xfrm>
          <a:prstGeom prst="rect">
            <a:avLst/>
          </a:prstGeom>
          <a:solidFill>
            <a:srgbClr val="E1E0D9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51480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371600" y="4457700"/>
            <a:ext cx="10149840" cy="10058"/>
          </a:xfrm>
          <a:prstGeom prst="rect">
            <a:avLst/>
          </a:prstGeom>
          <a:solidFill>
            <a:srgbClr val="E1E0D9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43479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371600" y="3657600"/>
            <a:ext cx="10149840" cy="10058"/>
          </a:xfrm>
          <a:prstGeom prst="rect">
            <a:avLst/>
          </a:prstGeom>
          <a:solidFill>
            <a:srgbClr val="E1E0D9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5478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371600" y="2857500"/>
            <a:ext cx="10149840" cy="10058"/>
          </a:xfrm>
          <a:prstGeom prst="rect">
            <a:avLst/>
          </a:prstGeom>
          <a:solidFill>
            <a:srgbClr val="E1E0D9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7477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371600" y="2057400"/>
            <a:ext cx="10149840" cy="10058"/>
          </a:xfrm>
          <a:prstGeom prst="rect">
            <a:avLst/>
          </a:prstGeom>
          <a:solidFill>
            <a:srgbClr val="E1E0D9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19476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929384" y="5213634"/>
            <a:ext cx="914400" cy="4416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9384" y="5188511"/>
            <a:ext cx="914400" cy="25123"/>
          </a:xfrm>
          <a:prstGeom prst="rect">
            <a:avLst/>
          </a:prstGeom>
          <a:solidFill>
            <a:srgbClr val="86B33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09344" y="4914191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$0.4M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426464" y="53309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$3M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paired wins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59352" y="5065776"/>
            <a:ext cx="914400" cy="192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59352" y="4956562"/>
            <a:ext cx="914400" cy="109214"/>
          </a:xfrm>
          <a:prstGeom prst="rect">
            <a:avLst/>
          </a:prstGeom>
          <a:solidFill>
            <a:srgbClr val="86B33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39312" y="468224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$1.9M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456432" y="53309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 pipeline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89320" y="4617720"/>
            <a:ext cx="914400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9320" y="4253675"/>
            <a:ext cx="914400" cy="364045"/>
          </a:xfrm>
          <a:prstGeom prst="rect">
            <a:avLst/>
          </a:prstGeom>
          <a:solidFill>
            <a:srgbClr val="86B33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0" y="397935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0" y="53309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$50M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AEP program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19288" y="3977640"/>
            <a:ext cx="914400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19288" y="3249549"/>
            <a:ext cx="914400" cy="728091"/>
          </a:xfrm>
          <a:prstGeom prst="rect">
            <a:avLst/>
          </a:prstGeom>
          <a:solidFill>
            <a:srgbClr val="86B33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99248" y="2975229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$12.6M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16368" y="53309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$100M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FirstEnergy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049256" y="3337560"/>
            <a:ext cx="914400" cy="19202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49256" y="2245424"/>
            <a:ext cx="914400" cy="1092137"/>
          </a:xfrm>
          <a:prstGeom prst="rect">
            <a:avLst/>
          </a:prstGeom>
          <a:solidFill>
            <a:srgbClr val="86B33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729216" y="197110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$18.8M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546336" y="53309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$150M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at-scale run-rate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accumulation at CVR's capture rates (8% engineering; 13% material margin on 35% materials = 4.6% of EPC). Columns are cumulative CVR annual revenue as EPC wins build toward the $150M at-scale run-rate.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THE EPC COMPOUNDING EFFECT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accumulation economics — and the BD payoff</a:t>
            </a:r>
            <a:endParaRPr lang="en-US" sz="2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051560"/>
                <a:gridCol w="1234440"/>
                <a:gridCol w="1143000"/>
                <a:gridCol w="1280160"/>
                <a:gridCol w="8229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won ($M/yr)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Pull-through eng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Captured mat’l margin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managed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operating income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$400K 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$0.7M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$0.8M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$2.3M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$6.3M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$2.5M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$8.0M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$4.6M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$12.6M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$5.1M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$6.8M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$18.8M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$7.6M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224528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ladder is BD-limited, not capability-limited.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can engineer and procure the work today — winning it is the gate. Fund the pursuit and the accumulation follows.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589520" y="1463040"/>
            <a:ext cx="4023360" cy="3611880"/>
          </a:xfrm>
          <a:prstGeom prst="roundRect">
            <a:avLst>
              <a:gd name="adj" fmla="val 1519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0" y="205740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$15M of EPC won returns ~1.9× the BD cost in operating income.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AEP + FirstEnergy are the accelerators — they carry the ladder from $15M toward $100M+.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dollar compounds both streams; the return scales straight down the column.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~$400K BD resource is the lever on the whole ladder — it converts warm relationships into booked wins.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revenue = engineering (8%) + captured material margin (13% on 35% = 4.6%). Operating income nets ~2 pts procurement/carry and 15% engineering margin. Detail on the 'EPC At-Scale Model' tab.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REVISED 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scale: CVR earns engineering + material margin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~$150M of EPC a year and CVR captures the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scope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indent="0" marL="0">
              <a:buNone/>
            </a:pPr>
            <a:r>
              <a:rPr lang="en-US" sz="14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margin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while HWC keeps the equipment and the labor / construction margin.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$150M/YR PROGRAM REVENUE FLOWS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48640" y="20848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captures the blue + green bands — </a:t>
            </a:r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$18.8M managed revenue (12.5% of the program).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487168"/>
            <a:ext cx="885139" cy="822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487168"/>
            <a:ext cx="8851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433779" y="2487168"/>
            <a:ext cx="503423" cy="822960"/>
          </a:xfrm>
          <a:prstGeom prst="rect">
            <a:avLst/>
          </a:prstGeom>
          <a:solidFill>
            <a:srgbClr val="86B3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37202" y="2487168"/>
            <a:ext cx="3369061" cy="822960"/>
          </a:xfrm>
          <a:prstGeom prst="rect">
            <a:avLst/>
          </a:prstGeom>
          <a:solidFill>
            <a:srgbClr val="D8D6C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37202" y="2487168"/>
            <a:ext cx="336906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at cost · $45.7M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06263" y="2487168"/>
            <a:ext cx="6306617" cy="822960"/>
          </a:xfrm>
          <a:prstGeom prst="rect">
            <a:avLst/>
          </a:prstGeom>
          <a:solidFill>
            <a:srgbClr val="AEB4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6263" y="2487168"/>
            <a:ext cx="630661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— equipment + labor + construction · $85.5M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38728"/>
            <a:ext cx="182880" cy="182880"/>
          </a:xfrm>
          <a:prstGeom prst="rect">
            <a:avLst/>
          </a:prstGeom>
          <a:solidFill>
            <a:srgbClr val="2A78D6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930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— $12.0M (8%)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3538728"/>
            <a:ext cx="182880" cy="182880"/>
          </a:xfrm>
          <a:prstGeom prst="rect">
            <a:avLst/>
          </a:prstGeom>
          <a:solidFill>
            <a:srgbClr val="86B332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4930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material margin — $6.8M (4.6%)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849624"/>
            <a:ext cx="182880" cy="182880"/>
          </a:xfrm>
          <a:prstGeom prst="rect">
            <a:avLst/>
          </a:prstGeom>
          <a:solidFill>
            <a:srgbClr val="D8D6CE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039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at cost (pass-through) — $45.7M (30%)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849624"/>
            <a:ext cx="182880" cy="182880"/>
          </a:xfrm>
          <a:prstGeom prst="rect">
            <a:avLst/>
          </a:prstGeom>
          <a:solidFill>
            <a:srgbClr val="AEB4B9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8039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equipment + labor + construction — $85.5M (57%)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managed revenue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6656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$18.8M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676656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+ material margin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90749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18765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gross profit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918765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$14.0M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2918765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GP + material margin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32858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60874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operating income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160874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$7.6M</a:t>
            </a:r>
            <a:endParaRPr lang="en-US" sz="2500" dirty="0"/>
          </a:p>
        </p:txBody>
      </p:sp>
      <p:sp>
        <p:nvSpPr>
          <p:cNvPr id="33" name="Text 31"/>
          <p:cNvSpPr/>
          <p:nvPr/>
        </p:nvSpPr>
        <p:spPr>
          <a:xfrm>
            <a:off x="5160874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OILI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274966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2982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the $6M / 20% goal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402982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6.3×</a:t>
            </a:r>
            <a:endParaRPr lang="en-US" sz="2500" dirty="0"/>
          </a:p>
        </p:txBody>
      </p:sp>
      <p:sp>
        <p:nvSpPr>
          <p:cNvPr id="37" name="Text 35"/>
          <p:cNvSpPr/>
          <p:nvPr/>
        </p:nvSpPr>
        <p:spPr>
          <a:xfrm>
            <a:off x="7402982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operating profit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517075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45091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645091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~$6.5M</a:t>
            </a:r>
            <a:endParaRPr lang="en-US" sz="2500" dirty="0"/>
          </a:p>
        </p:txBody>
      </p:sp>
      <p:sp>
        <p:nvSpPr>
          <p:cNvPr id="41" name="Text 39"/>
          <p:cNvSpPr/>
          <p:nvPr/>
        </p:nvSpPr>
        <p:spPr>
          <a:xfrm>
            <a:off x="9645091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carry — needs a facility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" y="5468112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5541264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at $150M/yr — a future-state target, not the current forecast.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would carry ~$6.5M working capital and material procurement / price risk; confirm payment terms and a financing line with USC / HWC.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editable in CVR_Model_Phase2_Forecast.xlsx → 'EPC At-Scale Model' tab: 35% materials share · 13% material margin (net ~2 pts carry) · 8% engineering pull-through · 15% engineering operating margin.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ACCOUNTING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engineering: an item to clean up, not a crisis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hrs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engineering YTD — ≈$62.6K at card rates ($38.5K at cost), unbilled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807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design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36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 fixed-price EPC bid can even be submitted — $200–300K of pre-award exposure on the $9.1M bid slate still in market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31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Absorbed today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hours land in CVR's overhead with no offsetting credit — immaterial now, but it compounds as EPC pursuit volume grows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8554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misalignment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18464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are non-billable, so every EPC pursuit CVR supports drags the metrics CVR is judged on — utilization, realization, OILI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371600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EAF1FA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3619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14996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bid-support billing</a:t>
            </a:r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pays CVR for pre-award engineering on EPC pursuits (cost or card). Hours become billable; cost lands where the benefit lands. Standard EPC practice.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77840" y="2852928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1752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9809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allocation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91072" y="3310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engineering capitalizes to the pursuit — charged to the job on a win, absorbed by HWC as a BD expense on a loss.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334256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4498848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91072" y="44622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Carve it out of the metrics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91072" y="479145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bid-support hours in a separate BD cost pool so CVR's utilization and realization aren't penalized for pursuit work — a reporting fix, not a cash fix.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52744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is alignment, not subsidy. 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dollars are small today — but as EPC volume scales, the accounting should reward the pursuit behavior the strategy demands.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per the KPI report (through 7/25/26). Raise with the CFO as an EPC accounting-alignment item.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the BD resource — 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dedicated BD hire (~$400K/yr all-in) to convert AEP and FirstEnergy — both warm. A single mid-size EPC award pays it back in year one.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near-term pipeline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biggest swing ($1,350K); land the Hoosier/Consumers EPC-paired work — each EPC win pulls engineering + material margin to CVR.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and realization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$145K H1 realization gap (confirm HWC rate treatment, chase billing lag) and fill non-billable time with the bid backlog — ~27% more capacity, no hires.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into the actuals-vs-forecast cadence; the monthly cash draw on USC is the early-warning gauge for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a BD resource to convert AEP + FirstEnergy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warm IOU targets and a consolidated EPC-with-HWC offering that's ready — the missing piece is dedicated pursuit capacity.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0352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6" name="Image 0" descr="/home/user/CVR---Financial/reports/assets/logos/a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783080"/>
            <a:ext cx="21031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008376" y="1892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~$78B capital plan · 11-state footprint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68096" y="24688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warm: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management changes; strong Director/PM + procurement relationships (JimC + potential BD).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8096" y="2971800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&amp; distribution substation EPC — CVR engineering + material margin, HWC construction.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309360" y="1600200"/>
            <a:ext cx="530352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1" name="Image 1" descr="/home/user/CVR---Financial/reports/assets/logos/firstener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8816" y="1783080"/>
            <a:ext cx="21031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69096" y="1892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$36B “Energize365” grid plan (2026–30)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6528816" y="24688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warm: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C-suite relationships to leverage — an open door to EPC.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528816" y="2971800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Grid-modernization &amp; substation programs across OH · PA · NJ · WV · MD.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361188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EAF1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77240" y="3611880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one BD resource now —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~$400K/yr all-in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dedicated to AEP + FirstEnergy pursuit.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548640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6656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investment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676656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~$400K/yr</a:t>
            </a:r>
            <a:endParaRPr lang="en-US" sz="2500" dirty="0"/>
          </a:p>
        </p:txBody>
      </p:sp>
      <p:sp>
        <p:nvSpPr>
          <p:cNvPr id="20" name="Text 16"/>
          <p:cNvSpPr/>
          <p:nvPr/>
        </p:nvSpPr>
        <p:spPr>
          <a:xfrm>
            <a:off x="676656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senior BD resource, all-in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3351276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79292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EPC win covers it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3479292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~$0.43M</a:t>
            </a:r>
            <a:endParaRPr lang="en-US" sz="2500" dirty="0"/>
          </a:p>
        </p:txBody>
      </p:sp>
      <p:sp>
        <p:nvSpPr>
          <p:cNvPr id="24" name="Text 20"/>
          <p:cNvSpPr/>
          <p:nvPr/>
        </p:nvSpPr>
        <p:spPr>
          <a:xfrm>
            <a:off x="3479292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take on a single $3.45M job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153912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10% of the vision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6281928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~$0.76M</a:t>
            </a:r>
            <a:endParaRPr lang="en-US" sz="2500" dirty="0"/>
          </a:p>
        </p:txBody>
      </p:sp>
      <p:sp>
        <p:nvSpPr>
          <p:cNvPr id="28" name="Text 24"/>
          <p:cNvSpPr/>
          <p:nvPr/>
        </p:nvSpPr>
        <p:spPr>
          <a:xfrm>
            <a:off x="6281928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OI at ~$15M/yr EPC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956548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084564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at-scale upside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9084564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$7.6M</a:t>
            </a:r>
            <a:endParaRPr lang="en-US" sz="2500" dirty="0"/>
          </a:p>
        </p:txBody>
      </p:sp>
      <p:sp>
        <p:nvSpPr>
          <p:cNvPr id="32" name="Text 28"/>
          <p:cNvSpPr/>
          <p:nvPr/>
        </p:nvSpPr>
        <p:spPr>
          <a:xfrm>
            <a:off x="9084564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OI at $150M/yr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548640" y="559612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requested: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BD hire now to open AEP + FirstEnergy pursuit immediately.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cost ~$400K/yr all-in (base + benefits + travel). Returns per the 'EPC At-Scale Model' tab; a single mid-size EPC award pays back the resource in year one.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2026-07-31T12:32:41Z</dcterms:created>
  <dcterms:modified xsi:type="dcterms:W3CDTF">2026-07-31T12:32:41Z</dcterms:modified>
</cp:coreProperties>
</file>