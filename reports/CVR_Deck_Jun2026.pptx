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notesMasterIdLst>
    <p:notesMasterId r:id="rId2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notesMaster" Target="notesMasters/notesMaster1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14884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3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UTILITY SUPPLY &amp; CONSTRUCTION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251460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Review &amp; Forecast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40156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through June 2026  ·  Forecast through December 2027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612648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GL financial statements 6/30/26 · CVR &amp; EPC KPI report 7/11/26 · 2026 rate sheet · Phase 1 &amp; 2 model workbooks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we'll cover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8132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188720" y="146304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650" dirty="0"/>
          </a:p>
        </p:txBody>
      </p:sp>
      <p:sp>
        <p:nvSpPr>
          <p:cNvPr id="7" name="Text 5"/>
          <p:cNvSpPr/>
          <p:nvPr/>
        </p:nvSpPr>
        <p:spPr>
          <a:xfrm>
            <a:off x="4754880" y="146304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 · revenue vs plan &amp; prior year · gross margin vs budget · the rate ladder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267712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188720" y="2249424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650" dirty="0"/>
          </a:p>
        </p:txBody>
      </p:sp>
      <p:sp>
        <p:nvSpPr>
          <p:cNvPr id="11" name="Text 9"/>
          <p:cNvSpPr/>
          <p:nvPr/>
        </p:nvSpPr>
        <p:spPr>
          <a:xfrm>
            <a:off x="4754880" y="2249424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headcount · utilization by person · sales by customer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054096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30540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88720" y="303580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hand &amp; work to win</a:t>
            </a:r>
            <a:endParaRPr lang="en-US" sz="1650" dirty="0"/>
          </a:p>
        </p:txBody>
      </p:sp>
      <p:sp>
        <p:nvSpPr>
          <p:cNvPr id="15" name="Text 13"/>
          <p:cNvSpPr/>
          <p:nvPr/>
        </p:nvSpPr>
        <p:spPr>
          <a:xfrm>
            <a:off x="4754880" y="3035808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on active jobs · known pipeline opportunities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40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188720" y="3822192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</a:t>
            </a:r>
            <a:endParaRPr lang="en-US" sz="1650" dirty="0"/>
          </a:p>
        </p:txBody>
      </p:sp>
      <p:sp>
        <p:nvSpPr>
          <p:cNvPr id="19" name="Text 17"/>
          <p:cNvSpPr/>
          <p:nvPr/>
        </p:nvSpPr>
        <p:spPr>
          <a:xfrm>
            <a:off x="4754880" y="3822192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pursuit engine with HWC Estimating · the consolidated EPC offering · the addressable market · BD account ownership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626864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62686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188720" y="4608576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650" dirty="0"/>
          </a:p>
        </p:txBody>
      </p:sp>
      <p:sp>
        <p:nvSpPr>
          <p:cNvPr id="23" name="Text 21"/>
          <p:cNvSpPr/>
          <p:nvPr/>
        </p:nvSpPr>
        <p:spPr>
          <a:xfrm>
            <a:off x="4754880" y="4608576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&amp; coverage · FY2026 landing and FY2027 scenarios · cash &amp; the parent note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541324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413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1188720" y="5394960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650" dirty="0"/>
          </a:p>
        </p:txBody>
      </p:sp>
      <p:sp>
        <p:nvSpPr>
          <p:cNvPr id="27" name="Text 25"/>
          <p:cNvSpPr/>
          <p:nvPr/>
        </p:nvSpPr>
        <p:spPr>
          <a:xfrm>
            <a:off x="4754880" y="5394960"/>
            <a:ext cx="6858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Priorities: realization, utilization, the Q4 pipeline, and the monthly rhythm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financial review &amp; forecast ·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— where CVR Engineering stands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665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revenue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7665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2500" dirty="0"/>
          </a:p>
        </p:txBody>
      </p:sp>
      <p:sp>
        <p:nvSpPr>
          <p:cNvPr id="7" name="Text 5"/>
          <p:cNvSpPr/>
          <p:nvPr/>
        </p:nvSpPr>
        <p:spPr>
          <a:xfrm>
            <a:off x="67665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$124K — best month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2420112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548128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plan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548128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54.3%</a:t>
            </a:r>
            <a:endParaRPr lang="en-US" sz="2500" dirty="0"/>
          </a:p>
        </p:txBody>
      </p:sp>
      <p:sp>
        <p:nvSpPr>
          <p:cNvPr id="11" name="Text 9"/>
          <p:cNvSpPr/>
          <p:nvPr/>
        </p:nvSpPr>
        <p:spPr>
          <a:xfrm>
            <a:off x="2548128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$464K behind budget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291584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19600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prior year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419600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2500" dirty="0"/>
          </a:p>
        </p:txBody>
      </p:sp>
      <p:sp>
        <p:nvSpPr>
          <p:cNvPr id="15" name="Text 13"/>
          <p:cNvSpPr/>
          <p:nvPr/>
        </p:nvSpPr>
        <p:spPr>
          <a:xfrm>
            <a:off x="4419600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 YTD $399K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6163056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91072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291072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2500" dirty="0"/>
          </a:p>
        </p:txBody>
      </p:sp>
      <p:sp>
        <p:nvSpPr>
          <p:cNvPr id="19" name="Text 17"/>
          <p:cNvSpPr/>
          <p:nvPr/>
        </p:nvSpPr>
        <p:spPr>
          <a:xfrm>
            <a:off x="6291072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assumes 61.6%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8034528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162544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8162544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500" dirty="0"/>
          </a:p>
        </p:txBody>
      </p:sp>
      <p:sp>
        <p:nvSpPr>
          <p:cNvPr id="23" name="Text 21"/>
          <p:cNvSpPr/>
          <p:nvPr/>
        </p:nvSpPr>
        <p:spPr>
          <a:xfrm>
            <a:off x="8162544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75% median target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9906000" y="1325880"/>
            <a:ext cx="1706880" cy="1024128"/>
          </a:xfrm>
          <a:prstGeom prst="roundRect">
            <a:avLst>
              <a:gd name="adj" fmla="val 535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0034016" y="1399032"/>
            <a:ext cx="145084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10034016" y="1600200"/>
            <a:ext cx="14508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500" dirty="0"/>
          </a:p>
        </p:txBody>
      </p:sp>
      <p:sp>
        <p:nvSpPr>
          <p:cNvPr id="27" name="Text 25"/>
          <p:cNvSpPr/>
          <p:nvPr/>
        </p:nvSpPr>
        <p:spPr>
          <a:xfrm>
            <a:off x="10034016" y="2039112"/>
            <a:ext cx="14508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$122 realized vs $154 card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48640" y="27432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is growing but under plan.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month ran below the flat $169K/month budget, yet YTD is 38% ahead of last year and June was the strongest month on record.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548640" y="33832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margin problem is throughput, not cost.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realizes ~$122/hr against a $154/hr rate card at 59% utilization. Closing those two gaps roughly doubles revenue on the current roster.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548640" y="402336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 forward is quantified.  </a:t>
            </a:r>
            <a:pPr indent="0" marL="0">
              <a:buNone/>
            </a:pPr>
            <a:r>
              <a:rPr lang="en-US" sz="1500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forecast turns monthly net income positive in November 2026 and delivers a 17.3% OILI return in 2027 — with the $6M revenue goal requiring a deliberate capacity build beyond it.</a:t>
            </a:r>
            <a:endParaRPr lang="en-US" sz="1500" dirty="0"/>
          </a:p>
        </p:txBody>
      </p:sp>
      <p:sp>
        <p:nvSpPr>
          <p:cNvPr id="31" name="Shape 29"/>
          <p:cNvSpPr/>
          <p:nvPr/>
        </p:nvSpPr>
        <p:spPr>
          <a:xfrm>
            <a:off x="548640" y="4892040"/>
            <a:ext cx="11064240" cy="1051560"/>
          </a:xfrm>
          <a:prstGeom prst="roundRect">
            <a:avLst>
              <a:gd name="adj" fmla="val 5217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net result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−$320.5K</a:t>
            </a:r>
            <a:endParaRPr lang="en-US" sz="2100" dirty="0"/>
          </a:p>
        </p:txBody>
      </p:sp>
      <p:sp>
        <p:nvSpPr>
          <p:cNvPr id="34" name="Text 32"/>
          <p:cNvSpPr/>
          <p:nvPr/>
        </p:nvSpPr>
        <p:spPr>
          <a:xfrm>
            <a:off x="429768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FY2026 landing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429768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$1.42M rev · −$352K</a:t>
            </a:r>
            <a:endParaRPr lang="en-US" sz="2100" dirty="0"/>
          </a:p>
        </p:txBody>
      </p:sp>
      <p:sp>
        <p:nvSpPr>
          <p:cNvPr id="36" name="Text 34"/>
          <p:cNvSpPr/>
          <p:nvPr/>
        </p:nvSpPr>
        <p:spPr>
          <a:xfrm>
            <a:off x="7863840" y="50292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FY2027 (Base)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7863840" y="5303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$2.50M rev · +$432K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revenue — Actual vs Plan vs Prior Year</a:t>
            </a:r>
            <a:endParaRPr lang="en-US" sz="2700" dirty="0"/>
          </a:p>
        </p:txBody>
      </p:sp>
      <p:pic>
        <p:nvPicPr>
          <p:cNvPr id="4" name="Image 0" descr="/home/user/CVR---Financial/reports/assets/re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37360"/>
            <a:ext cx="7863840" cy="307828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$551K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YTD — 54.3% of the $1,014.6K plan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+38.1%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ahead of prior-year pace ($399K)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$124.4K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revenue — best month YTD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Prior-year line is a constant-pace approximation to the actual June YTD of $399.1K — monthly 2025 detail pending from GL history.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WE STAND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by month vs the 61.6% budget assumption</a:t>
            </a:r>
            <a:endParaRPr lang="en-US" sz="2700" dirty="0"/>
          </a:p>
        </p:txBody>
      </p:sp>
      <p:pic>
        <p:nvPicPr>
          <p:cNvPr id="4" name="Image 0" descr="/home/user/CVR---Financial/reports/assets/g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03120"/>
            <a:ext cx="7863840" cy="24291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22.2%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gross margin YTD — vs 61.6% budgeted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78892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months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24612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gross profit (Mar, May) on write-downs and thin billing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02336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36.8%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480560"/>
            <a:ext cx="2926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margin, near-breakeven operating month (−$9.8K before interest)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income statements, Jan–Jun 2026. Budget gross margin implied by the 2026 budget: labor at 38.4% of revenue.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ladder — where the card rate goes</a:t>
            </a:r>
            <a:endParaRPr lang="en-US" sz="2700" dirty="0"/>
          </a:p>
        </p:txBody>
      </p:sp>
      <p:pic>
        <p:nvPicPr>
          <p:cNvPr id="4" name="Image 0" descr="/home/user/CVR---Financial/reports/assets/ladd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194560"/>
            <a:ext cx="7315200" cy="1047873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8640" y="3931920"/>
            <a:ext cx="731520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731520" y="4114800"/>
            <a:ext cx="6949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Labor multiplier:  </a:t>
            </a:r>
            <a:pPr indent="0" marL="0">
              <a:buNone/>
            </a:pPr>
            <a:r>
              <a:rPr lang="en-US" sz="22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1.29×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actual  vs  </a:t>
            </a:r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2.60×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budgeted revenue per direct-labor dollar (healthy firms run 2.5–3.0×)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63840" y="15544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2600" dirty="0"/>
          </a:p>
        </p:txBody>
      </p:sp>
      <p:sp>
        <p:nvSpPr>
          <p:cNvPr id="8" name="Text 5"/>
          <p:cNvSpPr/>
          <p:nvPr/>
        </p:nvSpPr>
        <p:spPr>
          <a:xfrm>
            <a:off x="7863840" y="20116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realization — $32/hr of card rate not reaching revenue (~$145K in H1)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7863840" y="301752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suspect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863840" y="347472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pricing on HWC work (20% of sales); billing lag and write-offs also in scope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7863840" y="44805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sourced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7863840" y="493776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per-person cost confirmed from finance's 2026 budget — every role clears its rate (next slide)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2026: 4,747 billable hours (through 7/11) · blended card rate mix-weighted from actual billable hours by classification.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Margin by role — the rate card holds</a:t>
            </a:r>
            <a:endParaRPr lang="en-US" sz="2700" dirty="0"/>
          </a:p>
        </p:txBody>
      </p:sp>
      <p:pic>
        <p:nvPicPr>
          <p:cNvPr id="4" name="Image 0" descr="/home/user/CVR---Financial/reports/assets/mar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371600"/>
            <a:ext cx="7589520" cy="35580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412480" y="1417320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1.7×–2.2×</a:t>
            </a:r>
            <a:endParaRPr lang="en-US" sz="1600" dirty="0"/>
          </a:p>
        </p:txBody>
      </p:sp>
      <p:sp>
        <p:nvSpPr>
          <p:cNvPr id="6" name="Text 3"/>
          <p:cNvSpPr/>
          <p:nvPr/>
        </p:nvSpPr>
        <p:spPr>
          <a:xfrm>
            <a:off x="8412480" y="1737360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role clears its bill rate at a healthy labor multiplier on finance's loaded-cost basis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8412480" y="2624328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 pricing problem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412480" y="2944368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rate card is adequate — no classification bills below its cost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8412480" y="3831336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where's the gap?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8412480" y="4151376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blends to 2.6× revenue-per-labor-dollar; H1 actual ran 1.29× — that gap is realization and utilization, not the card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8412480" y="5038344"/>
            <a:ext cx="320040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the fix there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412480" y="5358384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realization gap and lift utilization — the two levers that move margin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Loaded cost = base + 25% benefits + bonus per hour. Source: 2026 CVR Budget V5 (finance), tab Labor Rates-DP.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&amp; headcount</a:t>
            </a:r>
            <a:endParaRPr lang="en-US" sz="27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2651760"/>
                <a:gridCol w="1005840"/>
                <a:gridCol w="914400"/>
                <a:gridCol w="914400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Classification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 YTD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Billable 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VP Engineering (Principal Eng.)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Hayley Worthen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Engineer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66.9%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61.3%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Randy Pynenberg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Tom Little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Erin Bryden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IV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Bhkti Patel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Francis Wagner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62.5%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Taylor Nelson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1,045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Craig Peterson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Engineer 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Kevin Metts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Designer II †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Patrick Nicholson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Senior Designer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Collin Allen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57.6%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Auston Hopson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Graphics Technician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100.0%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138160" y="14173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8138160" y="192024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people on the engineering roster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138160" y="260604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3200" dirty="0"/>
          </a:p>
        </p:txBody>
      </p:sp>
      <p:sp>
        <p:nvSpPr>
          <p:cNvPr id="8" name="Text 5"/>
          <p:cNvSpPr/>
          <p:nvPr/>
        </p:nvSpPr>
        <p:spPr>
          <a:xfrm>
            <a:off x="8138160" y="31089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billable staff with recorded hours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138160" y="379476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</a:t>
            </a:r>
            <a:endParaRPr lang="en-US" sz="3200" dirty="0"/>
          </a:p>
        </p:txBody>
      </p:sp>
      <p:sp>
        <p:nvSpPr>
          <p:cNvPr id="10" name="Text 7"/>
          <p:cNvSpPr/>
          <p:nvPr/>
        </p:nvSpPr>
        <p:spPr>
          <a:xfrm>
            <a:off x="8138160" y="429768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hires in the Base hiring plan (Oct-26, Jan-27, Jun-27 → 13 FTE)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138160" y="498348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~27</a:t>
            </a:r>
            <a:endParaRPr lang="en-US" sz="3200" dirty="0"/>
          </a:p>
        </p:txBody>
      </p:sp>
      <p:sp>
        <p:nvSpPr>
          <p:cNvPr id="12" name="Text 9"/>
          <p:cNvSpPr/>
          <p:nvPr/>
        </p:nvSpPr>
        <p:spPr>
          <a:xfrm>
            <a:off x="8138160" y="54864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FTEs needed at target utilization to support the $6M revenue goal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No hours on the KPI utilization page — time booking to be confirmed.  † Classification assumed (not on org chart) — pending confirmation.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Billable utilization vs target, by person</a:t>
            </a:r>
            <a:endParaRPr lang="en-US" sz="2700" dirty="0"/>
          </a:p>
        </p:txBody>
      </p:sp>
      <p:pic>
        <p:nvPicPr>
          <p:cNvPr id="4" name="Image 0" descr="/home/user/CVR---Financial/reports/assets/u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863840" cy="2818669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59.0%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billable utilization vs 75% median target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people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than 15 points under their individual target (Kevin, Collin, Taylor)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 pts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reaching targets adds ~27% billable capacity with zero hires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through 7/11/26. Randy Pynenberg (68 hrs) and Auston Hopson (18 hrs) have small YTD bases. Bids/BD time is tracked separately (405 hrs).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DRIVERS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 by customer — YTD June 2026</a:t>
            </a:r>
            <a:endParaRPr lang="en-US" sz="2700" dirty="0"/>
          </a:p>
        </p:txBody>
      </p:sp>
      <p:pic>
        <p:nvPicPr>
          <p:cNvPr id="4" name="Image 0" descr="/home/user/CVR---Financial/reports/assets/c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377440"/>
            <a:ext cx="7863840" cy="194231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69.7%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revenue is CenterPoint — matching its ~70% share of billable hours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20.2%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work for Hydaker-Wheatlake (rate treatment under review)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~10%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other external customers combined — diversification is the growth agenda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 sales-by-customer schedule, 6/30/26. Total $551.0K.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IN HAND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Backlog — remaining value on active jobs</a:t>
            </a:r>
            <a:endParaRPr lang="en-US" sz="27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138160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3108960"/>
                <a:gridCol w="1143000"/>
                <a:gridCol w="1143000"/>
                <a:gridCol w="1143000"/>
                <a:gridCol w="731520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Job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 / project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 value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Billed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Finish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New Baltimore Conversion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$1,428.8K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$1,216.3K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$212.5K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Leonard Rd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$193.3K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Northwest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$110.6K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$4.4K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$203.0K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$131.2K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005-0004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— HVD Line Sensors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$130.5K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$71.3K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$59.2K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001-0001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— Catalina Ph 3 (support tail)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$838.5K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$806.3K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$96.7K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$81.7K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Aug-26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016-0001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Cloverland — Manistique Pump Stn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$111.5K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$106.6K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017-0005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Angel Mounds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$97.0K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$95.1K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backlog remaining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$696.8K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961120" y="15544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$697K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8961120" y="20116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booked work remaining — about 5 months of Base-forecast revenue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961120" y="29260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jobs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8961120" y="33832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carry 57% of it (New Baltimore, Leonard Rd), both finishing late 2027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961120" y="429768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close-outs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8961120" y="4754880"/>
            <a:ext cx="26517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Gateway, Rockport, Manistique wrap by Oct-26 — replacement work needed now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project scorecard, week ending 7/11/26. Remaining = PO value − billed to date; excludes cost-overrun exposure tracked on the scorecard.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TO WIN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Known pipeline opportunities</a:t>
            </a:r>
            <a:endParaRPr lang="en-US" sz="27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8778240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1965960"/>
                <a:gridCol w="1051560"/>
                <a:gridCol w="1143000"/>
                <a:gridCol w="868680"/>
                <a:gridCol w="1005840"/>
                <a:gridCol w="77724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Opportunity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Customer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CVR scope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Paired EPC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 prob.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Weighted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Award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Joint Use Audit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Lansing Board of Water &amp; Light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$1,350.0K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Rosehill–Rockport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$290.0K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$5,590.9K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$145.0K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Pole Replacements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$276.5K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$3,451.1K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$185.2K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Jacksonburg–Gateway 69kV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 Energy REC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$160.0K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$3,548.5K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Q4-26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Frontier Make Ready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Steuben County REMC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$50.0K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Q3-26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Renaissance 345kV Substation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TBD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 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hold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$2,176.5K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$12,590.5K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$1,135.2K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601200" y="1554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2800" dirty="0"/>
          </a:p>
        </p:txBody>
      </p:sp>
      <p:sp>
        <p:nvSpPr>
          <p:cNvPr id="6" name="Text 3"/>
          <p:cNvSpPr/>
          <p:nvPr/>
        </p:nvSpPr>
        <p:spPr>
          <a:xfrm>
            <a:off x="9601200" y="20116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win rate to date (up from 50% in 2025)</a:t>
            </a:r>
            <a:endParaRPr lang="en-US" sz="1150" dirty="0"/>
          </a:p>
        </p:txBody>
      </p:sp>
      <p:sp>
        <p:nvSpPr>
          <p:cNvPr id="7" name="Text 4"/>
          <p:cNvSpPr/>
          <p:nvPr/>
        </p:nvSpPr>
        <p:spPr>
          <a:xfrm>
            <a:off x="9601200" y="29260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800" dirty="0"/>
          </a:p>
        </p:txBody>
      </p:sp>
      <p:sp>
        <p:nvSpPr>
          <p:cNvPr id="8" name="Text 5"/>
          <p:cNvSpPr/>
          <p:nvPr/>
        </p:nvSpPr>
        <p:spPr>
          <a:xfrm>
            <a:off x="9601200" y="33832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share of paired EPC contract value — every EPC win pulls CVR scope with it</a:t>
            </a:r>
            <a:endParaRPr lang="en-US" sz="1150" dirty="0"/>
          </a:p>
        </p:txBody>
      </p:sp>
      <p:sp>
        <p:nvSpPr>
          <p:cNvPr id="9" name="Text 6"/>
          <p:cNvSpPr/>
          <p:nvPr/>
        </p:nvSpPr>
        <p:spPr>
          <a:xfrm>
            <a:off x="9601200" y="42976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$1.5M</a:t>
            </a:r>
            <a:endParaRPr lang="en-US" sz="2800" dirty="0"/>
          </a:p>
        </p:txBody>
      </p:sp>
      <p:sp>
        <p:nvSpPr>
          <p:cNvPr id="10" name="Text 7"/>
          <p:cNvSpPr/>
          <p:nvPr/>
        </p:nvSpPr>
        <p:spPr>
          <a:xfrm>
            <a:off x="9601200" y="475488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origination gap beyond this list to fully cover the 18-month Base forecast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KPI current-bids page, 7/11/26. Win probabilities are planning placeholders (2026 win rate or 50%) — Estimating to own final numbers and award dates.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ONE DELIVERY ORGANIZATION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pursuit engine: Engineering + Estimating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41732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Today: two linked groups, one funnel forming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828800"/>
            <a:ext cx="566928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~10-person estimating organization (Director of Estimating plus senior estimators) sits beside the 13-person engineering roster — same leadership, same customers.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already invests 405 hours YTD in bids and proposals — 20% of its non-billable time — but informally, after the estimate is framed.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EPC-paired pursuits (Hoosier, Consumers) are already priced with engineering scope inside them — the consolidated model exists in embryo.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675120" y="148132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14813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269480" y="146304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pursuit funnel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7269480" y="175564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bid list owned jointly; engineering hours planned into every estimate from day one, not volunteered afterward.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675120" y="253288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5328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5146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Design-to-estimate loop</a:t>
            </a:r>
            <a:endParaRPr lang="en-US" sz="1450" dirty="0"/>
          </a:p>
        </p:txBody>
      </p:sp>
      <p:sp>
        <p:nvSpPr>
          <p:cNvPr id="13" name="Text 11"/>
          <p:cNvSpPr/>
          <p:nvPr/>
        </p:nvSpPr>
        <p:spPr>
          <a:xfrm>
            <a:off x="7269480" y="280720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design packages and unit-hour norms feed estimating's cost baselines, so bids carry engineering reality.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675120" y="3584448"/>
            <a:ext cx="402336" cy="402336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0" y="35844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7269480" y="3566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Estimate-to-execution handoff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7269480" y="3858768"/>
            <a:ext cx="47548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winning estimate becomes the project budget the weekly scorecard tracks — one number from bid to closeout.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48640" y="4800600"/>
            <a:ext cx="11064240" cy="1143000"/>
          </a:xfrm>
          <a:prstGeom prst="roundRect">
            <a:avLst>
              <a:gd name="adj" fmla="val 48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49834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matters:  </a:t>
            </a:r>
            <a:pPr indent="0" marL="0">
              <a:buNone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variance is the biggest margin leak on the scorecard (individual jobs overran to −92% and −206%). Early engineering input into estimates is the structural fix — and it converts estimating support from overhead into billable pursuit capacity.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Refocus: pursue EPC with new clients as one offering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3547872" cy="1463040"/>
          </a:xfrm>
          <a:prstGeom prst="chevron">
            <a:avLst/>
          </a:prstGeom>
          <a:solidFill>
            <a:srgbClr val="CDE2FB"/>
          </a:solidFill>
          <a:ln w="12700">
            <a:solidFill>
              <a:srgbClr val="CDE2F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572768"/>
            <a:ext cx="26791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822960" y="1801368"/>
            <a:ext cx="26791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function</a:t>
            </a:r>
            <a:endParaRPr lang="en-US" sz="145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267919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supports HWC construction and bills hours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279392" y="1417320"/>
            <a:ext cx="3547872" cy="1463040"/>
          </a:xfrm>
          <a:prstGeom prst="chevron">
            <a:avLst/>
          </a:prstGeom>
          <a:solidFill>
            <a:srgbClr val="9EC5F4"/>
          </a:solidFill>
          <a:ln w="12700">
            <a:solidFill>
              <a:srgbClr val="9EC5F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TRANSITION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4846320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 engineer</a:t>
            </a:r>
            <a:endParaRPr lang="en-US" sz="1450" dirty="0"/>
          </a:p>
        </p:txBody>
      </p:sp>
      <p:sp>
        <p:nvSpPr>
          <p:cNvPr id="11" name="Text 9"/>
          <p:cNvSpPr/>
          <p:nvPr/>
        </p:nvSpPr>
        <p:spPr>
          <a:xfrm>
            <a:off x="4846320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design control; engineering priced into every EPC bid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8010144" y="1417320"/>
            <a:ext cx="3547872" cy="1463040"/>
          </a:xfrm>
          <a:prstGeom prst="chevron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77072" y="1572768"/>
            <a:ext cx="240487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8577072" y="1801368"/>
            <a:ext cx="2404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 of Record</a:t>
            </a:r>
            <a:endParaRPr lang="en-US" sz="1450" dirty="0"/>
          </a:p>
        </p:txBody>
      </p:sp>
      <p:sp>
        <p:nvSpPr>
          <p:cNvPr id="15" name="Text 13"/>
          <p:cNvSpPr/>
          <p:nvPr/>
        </p:nvSpPr>
        <p:spPr>
          <a:xfrm>
            <a:off x="8577072" y="2103120"/>
            <a:ext cx="240487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E8F0F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Turnkey EPC — supply, engineering, construction sold and delivered together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548640" y="3154680"/>
            <a:ext cx="5852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changes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48640" y="3566160"/>
            <a:ext cx="58521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with one accountable offer — material supply, engineering, and construction priced and sold together, with single-point delivery risk the utility doesn't have to manage.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 it at new clients — the co-op and municipal pattern already responding (Hoosier, Steuben, Lansing BWL) — to grow revenue while cutting the 70% CenterPoint concentration.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EPC win feeds both P&amp;Ls: construction margin to HWC, and 4–5% of contract value as engineering scope to CVR — the revenue that funds the capacity build toward $6M.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0" y="32461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$12.6M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6858000" y="368503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EPC-paired bids already in market with Hoosier and Consumers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858000" y="4206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4–5%</a:t>
            </a:r>
            <a:endParaRPr lang="en-US" sz="2700" dirty="0"/>
          </a:p>
        </p:txBody>
      </p:sp>
      <p:sp>
        <p:nvSpPr>
          <p:cNvPr id="21" name="Text 19"/>
          <p:cNvSpPr/>
          <p:nvPr/>
        </p:nvSpPr>
        <p:spPr>
          <a:xfrm>
            <a:off x="6858000" y="464515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pull-through on every EPC contract won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858000" y="516636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</a:t>
            </a:r>
            <a:endParaRPr lang="en-US" sz="2700" dirty="0"/>
          </a:p>
        </p:txBody>
      </p:sp>
      <p:sp>
        <p:nvSpPr>
          <p:cNvPr id="23" name="Text 21"/>
          <p:cNvSpPr/>
          <p:nvPr/>
        </p:nvSpPr>
        <p:spPr>
          <a:xfrm>
            <a:off x="6858000" y="5605272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win rate — the consolidated offer is landing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path per the CVR strategy roadmap: support function → prime engineer → Engineer of Record / turnkey program support.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THE CONSOLIDATED OFFERING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addressable EPC market in our current client base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68096" y="153619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057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Consumers Energy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768096" y="183794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68096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&gt;$17B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capital plan; $8.5B of distribution reliability &amp; resilience through 2029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768096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HVD line-sensor &amp; pole programs live; $3.5M EPC-paired pole-replacement bid pending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291072" y="1371600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10528" y="1536192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376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DTE Energy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510528" y="1837944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Michigan — electric &amp; gas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10528" y="2157984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$36.5B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5-year plan 2026–30 — up 20% on data-center load and grid reliability spend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6510528" y="2944368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New Baltimore &amp; Catalina conversions ($2.3M PO); Renaissance 345kV bid on hold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48640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68096" y="37490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1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CenterPoint Energy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768096" y="405079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Indiana Electric + Houston Electric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768096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$65B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10-year plan 2026–35; Houston Electric $46.3B; Indiana transmission &amp; data-center upside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768096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7 active Indiana substation jobs; Houston presence = the expansion runway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91072" y="3584448"/>
            <a:ext cx="5559552" cy="2084832"/>
          </a:xfrm>
          <a:prstGeom prst="roundRect">
            <a:avLst>
              <a:gd name="adj" fmla="val 2632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510528" y="3749040"/>
            <a:ext cx="3566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47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MidAmerican Energy (MEC)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6510528" y="4050792"/>
            <a:ext cx="4206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Iowa — Berkshire Hathaway Energy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510528" y="4370832"/>
            <a:ext cx="51206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$3.9B  </a:t>
            </a:r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Wind PRIME program, on top of ~$14B invested in Iowa energy infrastructure since 2004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510528" y="5157216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Foothold: 4 active EPC substation projects with HWC ($21.7M PO value)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5870448"/>
            <a:ext cx="11064240" cy="475488"/>
          </a:xfrm>
          <a:prstGeom prst="roundRect">
            <a:avLst>
              <a:gd name="adj" fmla="val 9615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5943600"/>
            <a:ext cx="10698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≈$120B in disclosed capital plans across this client base.  </a:t>
            </a:r>
            <a:pPr indent="0" marL="0">
              <a:buNone/>
            </a:pPr>
            <a:r>
              <a:rPr lang="en-US" sz="12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0.005% captured as engineering = the $6M Year-2 goal.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sources: company capital-plan announcements and filings (Utility Dive, SEC 8-K, company releases), July 2026. Wordmarks shown; drop official logo files into reports/assets/logos/ and rebuild to swap them in.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— BUSINESS DEVELOPMENT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owner on every EPC account</a:t>
            </a:r>
            <a:endParaRPr lang="en-US" sz="27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722376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3383280"/>
                <a:gridCol w="2240280"/>
              </a:tblGrid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Account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EPC pursuit focus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Proposed owner *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Outside current footprint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utilities &amp; regions beyond MI/IN/IA — Gulf Coast &amp; Texas, MISO/PJM neighbors, data-center-driven grid build-out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BD Lead (new hire) — owns the map, coordinates all account managers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1FA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Indiana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Substation program continuity; move from job-by-job to a program-level agreement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Roy Pierce (VP Engineering — current PM)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CenterPoint — Houston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Entry into the $46.3B Houston Electric resiliency build — new territory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SVP Engineering (Houston-based)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DTE 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program follow-on; revive the Renaissance 345kV pursuit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Assign — VP Engineering or new 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Consumers Energy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pole/sensor programs into EPC-paired awards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Frank Miller (Director of Estimating)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MidAmerican (MEC)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Extend the 4-project EPC substation program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Ethan McDaniel (EPC PM — current)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Co-op &amp; municipal cluster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Hoosier, Steuben, Lansing BWL, Great Lakes — the consolidated-offer beachhead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EPC Account Manager (hire)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Prospects in motion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NIPSCO, AES Ohio, AES Indiana, Duke — BD hours already flowing, no owner yet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 EPC Account Manager (hire)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092440" y="137160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 today — $0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8092440" y="170992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Incumbent accounts get named owners from existing leadership. The 590 hours of BD &amp; proposal time already spent YTD becomes a managed funnel instead of volunteer work.</a:t>
            </a:r>
            <a:endParaRPr lang="en-US" sz="1050" dirty="0"/>
          </a:p>
        </p:txBody>
      </p:sp>
      <p:sp>
        <p:nvSpPr>
          <p:cNvPr id="7" name="Text 4"/>
          <p:cNvSpPr/>
          <p:nvPr/>
        </p:nvSpPr>
        <p:spPr>
          <a:xfrm>
            <a:off x="8092440" y="306324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two seats — BD Lead + AM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8092440" y="340156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BD Lead hunts outside the footprint and owns the consolidated-offer story to new logos; the Account Manager works the co-op/municipal cluster and prospects. One EPC win repays both seats — 4–5% engineering pull-through to CVR plus construction margin to HWC.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092440" y="475488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cadence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092440" y="5093208"/>
            <a:ext cx="35204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account reviews against the pipeline tab, chaired by the BD Lead. Owners set win probabilities and award dates; BD hours tracked per account.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Proposed from current relationships on the KPI scorecards — to be confirmed with the team. YTD BD hours by account (KPI report): Great Lakes 56 · CenterPoint 35.5 · Consumers 26.5 · DTE 19.5 · NIPSCO 10 · AES 10 — plus 408 proposal hours.</a:t>
            </a:r>
            <a:endParaRPr lang="en-US" sz="9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PHASE 2 MODEL, BASE SCENARIO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revenue &amp; work coverage, Jul 2026 – Dec 2027</a:t>
            </a:r>
            <a:endParaRPr lang="en-US" sz="2700" dirty="0"/>
          </a:p>
        </p:txBody>
      </p:sp>
      <p:pic>
        <p:nvPicPr>
          <p:cNvPr id="4" name="Image 0" descr="/home/user/CVR---Financial/reports/assets/cov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2011680"/>
            <a:ext cx="7863840" cy="283478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49%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the 18-month forecast covered by backlog + weighted pipeline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21%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 by booked backlog alone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$1,724K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to originate — the BD target; thinnest coverage is H2-2027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Forecast = FTE × hours × utilization × card rate × realization (Base path: 59→70% utilization, 79→90% realization, 10→13 FTE).</a:t>
            </a:r>
            <a:endParaRPr lang="en-US" sz="9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FY2026 landing, FY2027 outlook, and scenarios</a:t>
            </a:r>
            <a:endParaRPr lang="en-US" sz="27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54864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960120"/>
                <a:gridCol w="1051560"/>
                <a:gridCol w="1005840"/>
                <a:gridCol w="9144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FY2026 ($K)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actual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H2 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 landing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551.0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872.0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1,423.0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Gross profit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122.5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422.4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544.9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Operating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−291.0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−320.5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−31.3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−351.8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3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657600"/>
          <a:ext cx="5486400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1828800"/>
                <a:gridCol w="192024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FY2027 (Base)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Forecast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2,496.6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6,000 (42%)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income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+431.6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OILI return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5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0" y="1371600"/>
          <a:ext cx="557784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777240"/>
                <a:gridCol w="868680"/>
                <a:gridCol w="822960"/>
                <a:gridCol w="8229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FY26 NI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rev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FY27 NI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OILI 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Upside (75% · 95% · 16 FTE)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+1,054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30.7%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 (70% · 90% · 13 FTE)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−352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2,497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063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+432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Downside (no change)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−444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1,542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E3494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−205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0B0B0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−13.3%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1E0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2"/>
          <p:cNvSpPr/>
          <p:nvPr/>
        </p:nvSpPr>
        <p:spPr>
          <a:xfrm>
            <a:off x="6400800" y="3246120"/>
            <a:ext cx="5577840" cy="2743200"/>
          </a:xfrm>
          <a:prstGeom prst="roundRect">
            <a:avLst>
              <a:gd name="adj" fmla="val 2000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8" name="Text 3"/>
          <p:cNvSpPr/>
          <p:nvPr/>
        </p:nvSpPr>
        <p:spPr>
          <a:xfrm>
            <a:off x="6583680" y="34290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numbers say</a:t>
            </a:r>
            <a:endParaRPr lang="en-US" sz="1400" dirty="0"/>
          </a:p>
        </p:txBody>
      </p:sp>
      <p:sp>
        <p:nvSpPr>
          <p:cNvPr id="9" name="Text 4"/>
          <p:cNvSpPr/>
          <p:nvPr/>
        </p:nvSpPr>
        <p:spPr>
          <a:xfrm>
            <a:off x="6583680" y="3794760"/>
            <a:ext cx="521208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2026 budget is out of reach — socialize the re-forecast rather than track to a 2.7× H2 run-rate.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net income turns positive in November 2026 in the Base case.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20% OILI return is a performance goal — reachable. The $6M revenue is a capacity goal (~27 billable FTEs).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Utilization and realization are the two levers that double revenue on the current roster.</a:t>
            </a:r>
            <a:endParaRPr lang="en-US" sz="1200" dirty="0"/>
          </a:p>
        </p:txBody>
      </p:sp>
      <p:sp>
        <p:nvSpPr>
          <p:cNvPr id="10" name="Text 5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forecast model — scenarios switchable in CVR_Model_Phase2_Forecast.xlsx (Drivers tab).</a:t>
            </a:r>
            <a:endParaRPr lang="en-US" sz="9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Cash &amp; the USC parent note — the early-warning gauge</a:t>
            </a:r>
            <a:endParaRPr lang="en-US" sz="2700" dirty="0"/>
          </a:p>
        </p:txBody>
      </p:sp>
      <p:pic>
        <p:nvPicPr>
          <p:cNvPr id="4" name="Image 0" descr="/home/user/CVR---Financial/reports/assets/no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28800"/>
            <a:ext cx="7315200" cy="358957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686800" y="15544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$3.44M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8686800" y="20116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 balance at 6/30/26 — CVR's entire funding runs through this account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686800" y="29260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$3.59M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8686800" y="33832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Base-case peak in Jan-27, then a steady decline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686800" y="429768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6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−$209K</a:t>
            </a:r>
            <a:endParaRPr lang="en-US" sz="3000" dirty="0"/>
          </a:p>
        </p:txBody>
      </p:sp>
      <p:sp>
        <p:nvSpPr>
          <p:cNvPr id="10" name="Text 7"/>
          <p:cNvSpPr/>
          <p:nvPr/>
        </p:nvSpPr>
        <p:spPr>
          <a:xfrm>
            <a:off x="8686800" y="475488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paydown by Dec-27 in the Base case; Downside grows it to $3.82M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holds no cash: deficits draw the note, surpluses repay it (~$5K/mo interest accrues). If the balance isn't flattening by Q1-27, the drivers aren't moving.</a:t>
            </a:r>
            <a:endParaRPr lang="en-US" sz="9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 VIEW — ACCOUNTING ALIGNMENT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48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EPC bid engineering: an item to clean up, not a crisis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facts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1783080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405 hrs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548640" y="2112264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bid engineering YTD — ≈$62.6K at card rates ($38.5K at cost), unbilled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548640" y="280720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~60% design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48640" y="3136392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required before a fixed-price EPC bid can even be submitted — $250–380K of pre-award exposure on the $12.6M bid slate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3831336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$30.1K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548640" y="4160520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note interest charged to CVR in H1 — roughly a wash against bid engineering at cost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48640" y="4855464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E349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misalignment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548640" y="5184648"/>
            <a:ext cx="45720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hours are non-billable, so every EPC pursuit CVR supports drags the metrics CVR is judged on — utilization, realization, OILI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577840" y="1371600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EAF1FA"/>
          </a:solidFill>
          <a:ln w="15875">
            <a:solidFill>
              <a:srgbClr val="2A78D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760720" y="1536192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5" name="Text 13"/>
          <p:cNvSpPr/>
          <p:nvPr/>
        </p:nvSpPr>
        <p:spPr>
          <a:xfrm>
            <a:off x="5760720" y="15361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6291072" y="14996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Intercompany bid-support billing</a:t>
            </a:r>
            <a:pPr indent="0" marL="0">
              <a:buNone/>
            </a:pPr>
            <a:r>
              <a:rPr lang="en-US" sz="950" b="1" spc="15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RECOMMENDED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91072" y="1828800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HWC pays CVR for pre-award engineering on EPC pursuits (cost or card). Hours become billable; cost lands where the benefit lands. Standard EPC practice.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5577840" y="2852928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760720" y="3017520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0" name="Text 18"/>
          <p:cNvSpPr/>
          <p:nvPr/>
        </p:nvSpPr>
        <p:spPr>
          <a:xfrm>
            <a:off x="5760720" y="3017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291072" y="298094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/ loss allocation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91072" y="3310128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engineering capitalizes to the pursuit — charged to the job on a win, absorbed by HWC as a BD expense on a loss.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5577840" y="4334256"/>
            <a:ext cx="6035040" cy="1353312"/>
          </a:xfrm>
          <a:prstGeom prst="roundRect">
            <a:avLst>
              <a:gd name="adj" fmla="val 4054"/>
            </a:avLst>
          </a:prstGeom>
          <a:solidFill>
            <a:srgbClr val="F7F7F5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760720" y="4498848"/>
            <a:ext cx="384048" cy="384048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25" name="Text 23"/>
          <p:cNvSpPr/>
          <p:nvPr/>
        </p:nvSpPr>
        <p:spPr>
          <a:xfrm>
            <a:off x="57607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6291072" y="446227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Interest credit against bid hours</a:t>
            </a:r>
            <a:pPr indent="0" marL="0">
              <a:buNone/>
            </a:pP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91072" y="4791456"/>
            <a:ext cx="5120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Parent credits note interest against documented bid-support hours. Fixes the cash, but leaves the hours non-billable — the metrics stay misaligned.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5897880"/>
            <a:ext cx="11064240" cy="457200"/>
          </a:xfrm>
          <a:prstGeom prst="roundRect">
            <a:avLst>
              <a:gd name="adj" fmla="val 10000"/>
            </a:avLst>
          </a:prstGeom>
          <a:solidFill>
            <a:srgbClr val="EAF1FA"/>
          </a:solidFill>
          <a:ln w="9525">
            <a:solidFill>
              <a:srgbClr val="E1E0D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31520" y="5952744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B0B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ask is alignment, not subsidy.  </a:t>
            </a:r>
            <a:pPr indent="0" marL="0">
              <a:buNone/>
            </a:pPr>
            <a:r>
              <a:rPr lang="en-US" sz="1200" dirty="0">
                <a:solidFill>
                  <a:srgbClr val="5251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Dollars are roughly a wash today — but as EPC volume scales, the accounting should reward the pursuit behavior the strategy demands.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48640" y="6419088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hours per the KPI report (through 7/11/26); interest per the GL. Raise with the CFO alongside the note-terms discussion.</a:t>
            </a:r>
            <a:endParaRPr lang="en-US" sz="9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A1A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86B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</a:t>
            </a:r>
            <a:pPr indent="0" marL="0">
              <a:buNone/>
            </a:pPr>
            <a:r>
              <a:rPr lang="en-US" sz="1100" b="1" spc="200" kern="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90 DAYS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45920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34440" y="1600200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 the realization gap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234440" y="1929384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Decompose the $145K H1 gap: confirm intercompany rate treatment for HWC work, chase billing lag, stop write-offs. Worth up to $32 more per billable hour.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2852928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34440" y="2807208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Lift utilization toward targets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234440" y="3136392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Focused plans for the three largest gaps; fill non-billable time with the bid backlog. Reaching targets adds ~27% capacity with zero hires.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059936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34440" y="4014216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Win the Q4 pipeline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234440" y="4343400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Lansing BWL audit is the single biggest swing ($1,350K). Land the Hoosier/Consumers EPC-paired work — each EPC win pulls 4–5% engineering scope with it.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266944"/>
            <a:ext cx="457200" cy="457200"/>
          </a:xfrm>
          <a:prstGeom prst="ellipse">
            <a:avLst/>
          </a:prstGeom>
          <a:solidFill>
            <a:srgbClr val="2A78D6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52669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34440" y="5221224"/>
            <a:ext cx="10378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the monthly rhythm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234440" y="5550408"/>
            <a:ext cx="10378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3C2B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July close goes into the actuals-vs-forecast cadence; note-balance trajectory is the early-warning gauge for USC reporting.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48640" y="644652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987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CVR Engineering · prepared July 2026 · model workbooks and data in the CVR---Financial repository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2026-07-20T19:52:45Z</dcterms:created>
  <dcterms:modified xsi:type="dcterms:W3CDTF">2026-07-20T19:52:45Z</dcterms:modified>
</cp:coreProperties>
</file>